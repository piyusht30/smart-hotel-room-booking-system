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9bc75f0-ca0a-636b-397d-28a4aac36d09}">
          <p14:sldIdLst>
            <p14:sldId id="256"/>
            <p14:sldId id="257"/>
          </p14:sldIdLst>
        </p14:section>
        <p14:section name="Database (DBMS)" id="{b9eeca0c-4ddd-dc75-e00d-2425ca6427a5}">
          <p14:sldIdLst>
            <p14:sldId id="258"/>
            <p14:sldId id="259"/>
            <p14:sldId id="260"/>
            <p14:sldId id="261"/>
          </p14:sldIdLst>
        </p14:section>
        <p14:section name="Conclusion" id="{b35e80cd-52d4-1ebb-f5f5-7627c35a4c04}">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hotel room booking system built on a relational database. Mention your name, guide and college from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registers and spreadsheets cause double bookings, billing mistakes and repeated data. A relational database with keys, constraints and triggers solves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ER diagram. Customer and Room connect through Booking. RoomType stores price and capacity once for all rooms (third normal form). Payment and Feedback both point to Booking. Staff is a separate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normal form with its example. The key 3NF example: room price and capacity are stored once in RoomType, and Room only keeps type_id.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booking moves through its states. The triggers update the room status automatically, and the cancellation count helps the hotel see which customers cancel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queries can be run live in the SQL Query Lab page. The availability query is the heart of double-booking prevention: a room is free only if no active booking overlaps the requested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in three sentences: the design keeps data correct, triggers and queries automate the work, and the result is a practical hotel booking system.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315200" cy="2286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7315200" cy="17373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Smart Hotel Room Booking System  |  PBL Project</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315200" cy="2286000"/>
          </a:xfrm>
          <a:prstGeom prst="rect">
            <a:avLst/>
          </a:prstGeom>
          <a:noFill/>
          <a:ln/>
        </p:spPr>
        <p:txBody>
          <a:bodyPr wrap="square" lIns="0" tIns="0" rIns="0" bIns="0" rtlCol="0" anchor="b"/>
          <a:lstStyle/>
          <a:p>
            <a:pPr algn="l" indent="0" marL="0">
              <a:buNone/>
            </a:pPr>
            <a:r>
              <a:rPr lang="en-US" sz="4000" b="1" dirty="0">
                <a:solidFill>
                  <a:schemeClr val="bg1"/>
                </a:solidFill>
              </a:rPr>
              <a:t>Smart Hotel Room Booking System</a:t>
            </a:r>
            <a:endParaRPr lang="en-US" sz="4000" dirty="0"/>
          </a:p>
        </p:txBody>
      </p:sp>
      <p:sp>
        <p:nvSpPr>
          <p:cNvPr id="3" name="Text 0"/>
          <p:cNvSpPr/>
          <p:nvPr>
            <p:ph idx="101" type="body" hasCustomPrompt="1"/>
          </p:nvPr>
        </p:nvSpPr>
        <p:spPr>
          <a:xfrm>
            <a:off x="731520" y="4023360"/>
            <a:ext cx="7315200" cy="1737360"/>
          </a:xfrm>
          <a:prstGeom prst="rect">
            <a:avLst/>
          </a:prstGeom>
          <a:noFill/>
          <a:ln/>
        </p:spPr>
        <p:txBody>
          <a:bodyPr wrap="square" lIns="0" tIns="0" rIns="0" bIns="0" rtlCol="0" anchor="t"/>
          <a:lstStyle/>
          <a:p>
            <a:pPr indent="0" marL="0">
              <a:spcAft>
                <a:spcPts val="600"/>
              </a:spcAft>
              <a:buNone/>
            </a:pPr>
            <a:r>
              <a:rPr lang="en-US" sz="2000" b="1" dirty="0">
                <a:solidFill>
                  <a:schemeClr val="bg2"/>
                </a:solidFill>
              </a:rPr>
              <a:t>Hotel / Hostel Room Booking using a Relational Database</a:t>
            </a:r>
            <a:endParaRPr lang="en-US" sz="1800" dirty="0"/>
          </a:p>
          <a:p>
            <a:pPr indent="0" marL="0">
              <a:spcAft>
                <a:spcPts val="600"/>
              </a:spcAft>
              <a:buNone/>
            </a:pPr>
            <a:r>
              <a:rPr lang="en-US" sz="1800" dirty="0">
                <a:solidFill>
                  <a:schemeClr val="bg2"/>
                </a:solidFill>
              </a:rPr>
              <a:t>PBL Project  |  Database Management Systems (DBMS)</a:t>
            </a:r>
            <a:endParaRPr lang="en-US" sz="1800" dirty="0"/>
          </a:p>
          <a:p>
            <a:pPr indent="0" marL="0">
              <a:spcAft>
                <a:spcPts val="600"/>
              </a:spcAft>
              <a:buNone/>
            </a:pPr>
            <a:r>
              <a:rPr lang="en-US" sz="1800" b="1" dirty="0">
                <a:solidFill>
                  <a:schemeClr val="bg2"/>
                </a:solidFill>
              </a:rPr>
              <a:t>Piyush Tekale (1262252397)   |   Shantanu Pawar (1262252389)</a:t>
            </a:r>
            <a:endParaRPr lang="en-US" sz="1800" dirty="0"/>
          </a:p>
          <a:p>
            <a:pPr indent="0" marL="0">
              <a:spcAft>
                <a:spcPts val="600"/>
              </a:spcAft>
              <a:buNone/>
            </a:pPr>
            <a:r>
              <a:rPr lang="en-US" sz="1800" dirty="0">
                <a:solidFill>
                  <a:schemeClr val="bg2"/>
                </a:solidFill>
              </a:rPr>
              <a:t>Guide: [Guide Name]   |   [College Name]   |   [Year]</a:t>
            </a:r>
            <a:endParaRPr lang="en-US" sz="1800" dirty="0"/>
          </a:p>
        </p:txBody>
      </p:sp>
      <p:sp>
        <p:nvSpPr>
          <p:cNvPr id="4" name="hero circle"/>
          <p:cNvSpPr/>
          <p:nvPr/>
        </p:nvSpPr>
        <p:spPr>
          <a:xfrm>
            <a:off x="8595360" y="1097280"/>
            <a:ext cx="2743200" cy="2743200"/>
          </a:xfrm>
          <a:prstGeom prst="ellipse">
            <a:avLst/>
          </a:prstGeom>
          <a:solidFill>
            <a:schemeClr val="accent2"/>
          </a:solidFill>
          <a:ln/>
        </p:spPr>
      </p:sp>
      <p:pic>
        <p:nvPicPr>
          <p:cNvPr id="5" name="hero hotel icon" descr="preencoded.png">    </p:cNvPr>
          <p:cNvPicPr>
            <a:picLocks noChangeAspect="1"/>
          </p:cNvPicPr>
          <p:nvPr/>
        </p:nvPicPr>
        <p:blipFill>
          <a:blip r:embed="rId1"/>
          <a:stretch>
            <a:fillRect/>
          </a:stretch>
        </p:blipFill>
        <p:spPr>
          <a:xfrm>
            <a:off x="9281160" y="1783080"/>
            <a:ext cx="1371600" cy="1371600"/>
          </a:xfrm>
          <a:prstGeom prst="rect">
            <a:avLst/>
          </a:prstGeom>
        </p:spPr>
      </p:pic>
      <p:sp>
        <p:nvSpPr>
          <p:cNvPr id="6" name="db circle"/>
          <p:cNvSpPr/>
          <p:nvPr/>
        </p:nvSpPr>
        <p:spPr>
          <a:xfrm>
            <a:off x="10058400" y="3977640"/>
            <a:ext cx="1737360" cy="1737360"/>
          </a:xfrm>
          <a:prstGeom prst="ellipse">
            <a:avLst/>
          </a:prstGeom>
          <a:solidFill>
            <a:schemeClr val="accent3"/>
          </a:solidFill>
          <a:ln/>
        </p:spPr>
      </p:sp>
      <p:pic>
        <p:nvPicPr>
          <p:cNvPr id="7" name="db icon" descr="preencoded.png">    </p:cNvPr>
          <p:cNvPicPr>
            <a:picLocks noChangeAspect="1"/>
          </p:cNvPicPr>
          <p:nvPr/>
        </p:nvPicPr>
        <p:blipFill>
          <a:blip r:embed="rId2"/>
          <a:stretch>
            <a:fillRect/>
          </a:stretch>
        </p:blipFill>
        <p:spPr>
          <a:xfrm>
            <a:off x="10469880" y="4389120"/>
            <a:ext cx="914400" cy="914400"/>
          </a:xfrm>
          <a:prstGeom prst="rect">
            <a:avLst/>
          </a:prstGeom>
        </p:spPr>
      </p:pic>
      <p:sp>
        <p:nvSpPr>
          <p:cNvPr id="8" name="bed circle"/>
          <p:cNvSpPr/>
          <p:nvPr/>
        </p:nvSpPr>
        <p:spPr>
          <a:xfrm>
            <a:off x="8138160" y="4206240"/>
            <a:ext cx="1554480" cy="1554480"/>
          </a:xfrm>
          <a:prstGeom prst="ellipse">
            <a:avLst/>
          </a:prstGeom>
          <a:solidFill>
            <a:schemeClr val="bg2"/>
          </a:solidFill>
          <a:ln/>
        </p:spPr>
      </p:sp>
      <p:pic>
        <p:nvPicPr>
          <p:cNvPr id="9" name="bed icon" descr="preencoded.png">    </p:cNvPr>
          <p:cNvPicPr>
            <a:picLocks noChangeAspect="1"/>
          </p:cNvPicPr>
          <p:nvPr/>
        </p:nvPicPr>
        <p:blipFill>
          <a:blip r:embed="rId3"/>
          <a:stretch>
            <a:fillRect/>
          </a:stretch>
        </p:blipFill>
        <p:spPr>
          <a:xfrm>
            <a:off x="8503920" y="45720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Why this project?</a:t>
            </a:r>
            <a:endParaRPr lang="en-US" sz="3600" dirty="0"/>
          </a:p>
        </p:txBody>
      </p:sp>
      <p:sp>
        <p:nvSpPr>
          <p:cNvPr id="3" name="problem card 1"/>
          <p:cNvSpPr/>
          <p:nvPr/>
        </p:nvSpPr>
        <p:spPr>
          <a:xfrm>
            <a:off x="548640" y="1463040"/>
            <a:ext cx="5440680" cy="3246120"/>
          </a:xfrm>
          <a:prstGeom prst="roundRect">
            <a:avLst>
              <a:gd name="adj" fmla="val 3380"/>
            </a:avLst>
          </a:prstGeom>
          <a:solidFill>
            <a:schemeClr val="bg2"/>
          </a:solidFill>
          <a:ln/>
        </p:spPr>
      </p:sp>
      <p:sp>
        <p:nvSpPr>
          <p:cNvPr id="4" name="manual circle"/>
          <p:cNvSpPr/>
          <p:nvPr/>
        </p:nvSpPr>
        <p:spPr>
          <a:xfrm>
            <a:off x="868680" y="1737360"/>
            <a:ext cx="822960" cy="822960"/>
          </a:xfrm>
          <a:prstGeom prst="ellipse">
            <a:avLst/>
          </a:prstGeom>
          <a:solidFill>
            <a:srgbClr val="C8553D"/>
          </a:solidFill>
          <a:ln/>
        </p:spPr>
      </p:sp>
      <p:pic>
        <p:nvPicPr>
          <p:cNvPr id="5" name="manual icon" descr="preencoded.png">    </p:cNvPr>
          <p:cNvPicPr>
            <a:picLocks noChangeAspect="1"/>
          </p:cNvPicPr>
          <p:nvPr/>
        </p:nvPicPr>
        <p:blipFill>
          <a:blip r:embed="rId1"/>
          <a:stretch>
            <a:fillRect/>
          </a:stretch>
        </p:blipFill>
        <p:spPr>
          <a:xfrm>
            <a:off x="1074420" y="1943100"/>
            <a:ext cx="411480" cy="411480"/>
          </a:xfrm>
          <a:prstGeom prst="rect">
            <a:avLst/>
          </a:prstGeom>
        </p:spPr>
      </p:pic>
      <p:sp>
        <p:nvSpPr>
          <p:cNvPr id="6" name="Text 3"/>
          <p:cNvSpPr txBox="1"/>
          <p:nvPr/>
        </p:nvSpPr>
        <p:spPr>
          <a:xfrm>
            <a:off x="1920240" y="182880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Manual booking is error-prone</a:t>
            </a:r>
            <a:endParaRPr lang="en-US" sz="2200" dirty="0"/>
          </a:p>
        </p:txBody>
      </p:sp>
      <p:sp>
        <p:nvSpPr>
          <p:cNvPr id="7" name="Text 4"/>
          <p:cNvSpPr txBox="1"/>
          <p:nvPr/>
        </p:nvSpPr>
        <p:spPr>
          <a:xfrm>
            <a:off x="868680" y="2880360"/>
            <a:ext cx="4846320" cy="16459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Same room can be booked twice</a:t>
            </a:r>
            <a:endParaRPr lang="en-US" sz="1800" dirty="0"/>
          </a:p>
          <a:p>
            <a:pPr marL="342900" indent="-342900">
              <a:spcAft>
                <a:spcPts val="600"/>
              </a:spcAft>
              <a:buSzPct val="100000"/>
              <a:buChar char="•"/>
            </a:pPr>
            <a:r>
              <a:rPr lang="en-US" sz="1800" dirty="0">
                <a:solidFill>
                  <a:schemeClr val="tx1"/>
                </a:solidFill>
              </a:rPr>
              <a:t>Bills are calculated by hand</a:t>
            </a:r>
            <a:endParaRPr lang="en-US" sz="1800" dirty="0"/>
          </a:p>
          <a:p>
            <a:pPr marL="342900" indent="-342900">
              <a:spcAft>
                <a:spcPts val="600"/>
              </a:spcAft>
              <a:buSzPct val="100000"/>
              <a:buChar char="•"/>
            </a:pPr>
            <a:r>
              <a:rPr lang="en-US" sz="1800" dirty="0">
                <a:solidFill>
                  <a:schemeClr val="tx1"/>
                </a:solidFill>
              </a:rPr>
              <a:t>Data is repeated in many places</a:t>
            </a:r>
            <a:endParaRPr lang="en-US" sz="1800" dirty="0"/>
          </a:p>
        </p:txBody>
      </p:sp>
      <p:sp>
        <p:nvSpPr>
          <p:cNvPr id="8" name="problem card 2"/>
          <p:cNvSpPr/>
          <p:nvPr/>
        </p:nvSpPr>
        <p:spPr>
          <a:xfrm>
            <a:off x="6199632" y="1463040"/>
            <a:ext cx="5440680" cy="3246120"/>
          </a:xfrm>
          <a:prstGeom prst="roundRect">
            <a:avLst>
              <a:gd name="adj" fmla="val 3380"/>
            </a:avLst>
          </a:prstGeom>
          <a:solidFill>
            <a:schemeClr val="bg2"/>
          </a:solidFill>
          <a:ln/>
        </p:spPr>
      </p:sp>
      <p:sp>
        <p:nvSpPr>
          <p:cNvPr id="9" name="cancel circle"/>
          <p:cNvSpPr/>
          <p:nvPr/>
        </p:nvSpPr>
        <p:spPr>
          <a:xfrm>
            <a:off x="6519672" y="1737360"/>
            <a:ext cx="822960" cy="822960"/>
          </a:xfrm>
          <a:prstGeom prst="ellipse">
            <a:avLst/>
          </a:prstGeom>
          <a:solidFill>
            <a:srgbClr val="C8553D"/>
          </a:solidFill>
          <a:ln/>
        </p:spPr>
      </p:sp>
      <p:pic>
        <p:nvPicPr>
          <p:cNvPr id="10" name="cancel icon" descr="preencoded.png">    </p:cNvPr>
          <p:cNvPicPr>
            <a:picLocks noChangeAspect="1"/>
          </p:cNvPicPr>
          <p:nvPr/>
        </p:nvPicPr>
        <p:blipFill>
          <a:blip r:embed="rId2"/>
          <a:stretch>
            <a:fillRect/>
          </a:stretch>
        </p:blipFill>
        <p:spPr>
          <a:xfrm>
            <a:off x="6725412" y="1943100"/>
            <a:ext cx="411480" cy="411480"/>
          </a:xfrm>
          <a:prstGeom prst="rect">
            <a:avLst/>
          </a:prstGeom>
        </p:spPr>
      </p:pic>
      <p:sp>
        <p:nvSpPr>
          <p:cNvPr id="11" name="Text 7"/>
          <p:cNvSpPr txBox="1"/>
          <p:nvPr/>
        </p:nvSpPr>
        <p:spPr>
          <a:xfrm>
            <a:off x="7589520" y="1828800"/>
            <a:ext cx="3840480" cy="685800"/>
          </a:xfrm>
          <a:prstGeom prst="rect">
            <a:avLst/>
          </a:prstGeom>
          <a:noFill/>
          <a:ln/>
        </p:spPr>
        <p:txBody>
          <a:bodyPr wrap="square" lIns="0" tIns="0" rIns="0" bIns="0" rtlCol="0" anchor="ctr"/>
          <a:lstStyle/>
          <a:p>
            <a:pPr indent="0" marL="0">
              <a:buNone/>
            </a:pPr>
            <a:r>
              <a:rPr lang="en-US" sz="2200" b="1" dirty="0">
                <a:solidFill>
                  <a:schemeClr val="tx2"/>
                </a:solidFill>
              </a:rPr>
              <a:t>Availability is hard to track</a:t>
            </a:r>
            <a:endParaRPr lang="en-US" sz="2200" dirty="0"/>
          </a:p>
        </p:txBody>
      </p:sp>
      <p:sp>
        <p:nvSpPr>
          <p:cNvPr id="12" name="Text 8"/>
          <p:cNvSpPr txBox="1"/>
          <p:nvPr/>
        </p:nvSpPr>
        <p:spPr>
          <a:xfrm>
            <a:off x="6519672" y="2880360"/>
            <a:ext cx="4846320" cy="16459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Hard to know which rooms are free</a:t>
            </a:r>
            <a:endParaRPr lang="en-US" sz="1800" dirty="0"/>
          </a:p>
          <a:p>
            <a:pPr marL="342900" indent="-342900">
              <a:spcAft>
                <a:spcPts val="600"/>
              </a:spcAft>
              <a:buSzPct val="100000"/>
              <a:buChar char="•"/>
            </a:pPr>
            <a:r>
              <a:rPr lang="en-US" sz="1800" dirty="0">
                <a:solidFill>
                  <a:schemeClr val="tx1"/>
                </a:solidFill>
              </a:rPr>
              <a:t>Cancellations are not tracked</a:t>
            </a:r>
            <a:endParaRPr lang="en-US" sz="1800" dirty="0"/>
          </a:p>
          <a:p>
            <a:pPr marL="342900" indent="-342900">
              <a:spcAft>
                <a:spcPts val="600"/>
              </a:spcAft>
              <a:buSzPct val="100000"/>
              <a:buChar char="•"/>
            </a:pPr>
            <a:r>
              <a:rPr lang="en-US" sz="1800" dirty="0">
                <a:solidFill>
                  <a:schemeClr val="tx1"/>
                </a:solidFill>
              </a:rPr>
              <a:t>No reports on revenue or occupancy</a:t>
            </a:r>
            <a:endParaRPr lang="en-US" sz="1800" dirty="0"/>
          </a:p>
        </p:txBody>
      </p:sp>
      <p:sp>
        <p:nvSpPr>
          <p:cNvPr id="13" name="solution banner"/>
          <p:cNvSpPr/>
          <p:nvPr/>
        </p:nvSpPr>
        <p:spPr>
          <a:xfrm>
            <a:off x="548640" y="5029200"/>
            <a:ext cx="11091672" cy="1097280"/>
          </a:xfrm>
          <a:prstGeom prst="roundRect">
            <a:avLst>
              <a:gd name="adj" fmla="val 10000"/>
            </a:avLst>
          </a:prstGeom>
          <a:solidFill>
            <a:schemeClr val="accent1"/>
          </a:solidFill>
          <a:ln/>
        </p:spPr>
      </p:sp>
      <p:sp>
        <p:nvSpPr>
          <p:cNvPr id="14" name="Text 10"/>
          <p:cNvSpPr txBox="1"/>
          <p:nvPr/>
        </p:nvSpPr>
        <p:spPr>
          <a:xfrm>
            <a:off x="868680" y="5029200"/>
            <a:ext cx="10424160" cy="1097280"/>
          </a:xfrm>
          <a:prstGeom prst="rect">
            <a:avLst/>
          </a:prstGeom>
          <a:noFill/>
          <a:ln/>
        </p:spPr>
        <p:txBody>
          <a:bodyPr wrap="square" lIns="0" tIns="0" rIns="0" bIns="0" rtlCol="0" anchor="ctr"/>
          <a:lstStyle/>
          <a:p>
            <a:pPr indent="0" marL="0">
              <a:buNone/>
            </a:pPr>
            <a:r>
              <a:rPr lang="en-US" sz="1800" b="1" dirty="0">
                <a:solidFill>
                  <a:schemeClr val="accent2"/>
                </a:solidFill>
              </a:rPr>
              <a:t>Our solution:  </a:t>
            </a:r>
            <a:pPr indent="0" marL="0">
              <a:buNone/>
            </a:pPr>
            <a:r>
              <a:rPr lang="en-US" sz="1800" dirty="0">
                <a:solidFill>
                  <a:schemeClr val="bg1"/>
                </a:solidFill>
              </a:rPr>
              <a:t>a relational database that keeps booking data correct, prevents double booking and automates billing</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Database design: 7 tables</a:t>
            </a:r>
            <a:endParaRPr lang="en-US" sz="3600" dirty="0"/>
          </a:p>
        </p:txBody>
      </p:sp>
      <p:sp>
        <p:nvSpPr>
          <p:cNvPr id="3" name="link"/>
          <p:cNvSpPr/>
          <p:nvPr/>
        </p:nvSpPr>
        <p:spPr>
          <a:xfrm>
            <a:off x="4572000" y="2468880"/>
            <a:ext cx="0" cy="777240"/>
          </a:xfrm>
          <a:prstGeom prst="line">
            <a:avLst/>
          </a:prstGeom>
          <a:noFill/>
          <a:ln w="25400">
            <a:solidFill>
              <a:srgbClr val="6C8EAD"/>
            </a:solidFill>
            <a:prstDash val="solid"/>
          </a:ln>
        </p:spPr>
      </p:sp>
      <p:sp>
        <p:nvSpPr>
          <p:cNvPr id="4" name="link"/>
          <p:cNvSpPr/>
          <p:nvPr/>
        </p:nvSpPr>
        <p:spPr>
          <a:xfrm>
            <a:off x="7680960" y="2468880"/>
            <a:ext cx="0" cy="777240"/>
          </a:xfrm>
          <a:prstGeom prst="line">
            <a:avLst/>
          </a:prstGeom>
          <a:noFill/>
          <a:ln w="25400">
            <a:solidFill>
              <a:srgbClr val="6C8EAD"/>
            </a:solidFill>
            <a:prstDash val="solid"/>
          </a:ln>
        </p:spPr>
      </p:sp>
      <p:sp>
        <p:nvSpPr>
          <p:cNvPr id="5" name="link customer"/>
          <p:cNvSpPr/>
          <p:nvPr/>
        </p:nvSpPr>
        <p:spPr>
          <a:xfrm>
            <a:off x="2651760" y="3703320"/>
            <a:ext cx="914400" cy="0"/>
          </a:xfrm>
          <a:prstGeom prst="line">
            <a:avLst/>
          </a:prstGeom>
          <a:noFill/>
          <a:ln w="25400">
            <a:solidFill>
              <a:srgbClr val="6C8EAD"/>
            </a:solidFill>
            <a:prstDash val="solid"/>
          </a:ln>
        </p:spPr>
      </p:sp>
      <p:sp>
        <p:nvSpPr>
          <p:cNvPr id="6" name="link room"/>
          <p:cNvSpPr/>
          <p:nvPr/>
        </p:nvSpPr>
        <p:spPr>
          <a:xfrm>
            <a:off x="8686800" y="3703320"/>
            <a:ext cx="822960" cy="0"/>
          </a:xfrm>
          <a:prstGeom prst="line">
            <a:avLst/>
          </a:prstGeom>
          <a:noFill/>
          <a:ln w="25400">
            <a:solidFill>
              <a:srgbClr val="6C8EAD"/>
            </a:solidFill>
            <a:prstDash val="solid"/>
          </a:ln>
        </p:spPr>
      </p:sp>
      <p:sp>
        <p:nvSpPr>
          <p:cNvPr id="7" name="link roomtype"/>
          <p:cNvSpPr/>
          <p:nvPr/>
        </p:nvSpPr>
        <p:spPr>
          <a:xfrm>
            <a:off x="10561320" y="4206240"/>
            <a:ext cx="0" cy="731520"/>
          </a:xfrm>
          <a:prstGeom prst="line">
            <a:avLst/>
          </a:prstGeom>
          <a:noFill/>
          <a:ln w="25400">
            <a:solidFill>
              <a:srgbClr val="6C8EAD"/>
            </a:solidFill>
            <a:prstDash val="solid"/>
          </a:ln>
        </p:spPr>
      </p:sp>
      <p:sp>
        <p:nvSpPr>
          <p:cNvPr id="8" name="Payment table"/>
          <p:cNvSpPr/>
          <p:nvPr/>
        </p:nvSpPr>
        <p:spPr>
          <a:xfrm>
            <a:off x="3794760" y="1645920"/>
            <a:ext cx="1554480" cy="822960"/>
          </a:xfrm>
          <a:prstGeom prst="roundRect">
            <a:avLst>
              <a:gd name="adj" fmla="val 11111"/>
            </a:avLst>
          </a:prstGeom>
          <a:solidFill>
            <a:schemeClr val="accent1"/>
          </a:solidFill>
          <a:ln/>
        </p:spPr>
      </p:sp>
      <p:sp>
        <p:nvSpPr>
          <p:cNvPr id="9" name="Text 7"/>
          <p:cNvSpPr txBox="1"/>
          <p:nvPr/>
        </p:nvSpPr>
        <p:spPr>
          <a:xfrm>
            <a:off x="3794760" y="1755648"/>
            <a:ext cx="1554480" cy="365760"/>
          </a:xfrm>
          <a:prstGeom prst="rect">
            <a:avLst/>
          </a:prstGeom>
          <a:noFill/>
          <a:ln/>
        </p:spPr>
        <p:txBody>
          <a:bodyPr wrap="square" lIns="0" tIns="0" rIns="0" bIns="0" rtlCol="0" anchor="ctr"/>
          <a:lstStyle/>
          <a:p>
            <a:pPr algn="ctr" indent="0" marL="0">
              <a:buNone/>
            </a:pPr>
            <a:r>
              <a:rPr lang="en-US" sz="1600" b="1" dirty="0">
                <a:solidFill>
                  <a:schemeClr val="bg1"/>
                </a:solidFill>
              </a:rPr>
              <a:t>Payment</a:t>
            </a:r>
            <a:endParaRPr lang="en-US" sz="1600" dirty="0"/>
          </a:p>
        </p:txBody>
      </p:sp>
      <p:sp>
        <p:nvSpPr>
          <p:cNvPr id="10" name="Text 8"/>
          <p:cNvSpPr txBox="1"/>
          <p:nvPr/>
        </p:nvSpPr>
        <p:spPr>
          <a:xfrm>
            <a:off x="3794760" y="2084832"/>
            <a:ext cx="1554480" cy="274320"/>
          </a:xfrm>
          <a:prstGeom prst="rect">
            <a:avLst/>
          </a:prstGeom>
          <a:noFill/>
          <a:ln/>
        </p:spPr>
        <p:txBody>
          <a:bodyPr wrap="square" lIns="0" tIns="0" rIns="0" bIns="0" rtlCol="0" anchor="ctr"/>
          <a:lstStyle/>
          <a:p>
            <a:pPr algn="ctr" indent="0" marL="0">
              <a:buNone/>
            </a:pPr>
            <a:r>
              <a:rPr lang="en-US" sz="1100" dirty="0">
                <a:solidFill>
                  <a:schemeClr val="bg1"/>
                </a:solidFill>
              </a:rPr>
              <a:t>FK booking_id</a:t>
            </a:r>
            <a:endParaRPr lang="en-US" sz="1100" dirty="0"/>
          </a:p>
        </p:txBody>
      </p:sp>
      <p:sp>
        <p:nvSpPr>
          <p:cNvPr id="11" name="Feedback table"/>
          <p:cNvSpPr/>
          <p:nvPr/>
        </p:nvSpPr>
        <p:spPr>
          <a:xfrm>
            <a:off x="6903720" y="1645920"/>
            <a:ext cx="1554480" cy="822960"/>
          </a:xfrm>
          <a:prstGeom prst="roundRect">
            <a:avLst>
              <a:gd name="adj" fmla="val 11111"/>
            </a:avLst>
          </a:prstGeom>
          <a:solidFill>
            <a:schemeClr val="accent1"/>
          </a:solidFill>
          <a:ln/>
        </p:spPr>
      </p:sp>
      <p:sp>
        <p:nvSpPr>
          <p:cNvPr id="12" name="Text 10"/>
          <p:cNvSpPr txBox="1"/>
          <p:nvPr/>
        </p:nvSpPr>
        <p:spPr>
          <a:xfrm>
            <a:off x="6903720" y="1755648"/>
            <a:ext cx="1554480" cy="365760"/>
          </a:xfrm>
          <a:prstGeom prst="rect">
            <a:avLst/>
          </a:prstGeom>
          <a:noFill/>
          <a:ln/>
        </p:spPr>
        <p:txBody>
          <a:bodyPr wrap="square" lIns="0" tIns="0" rIns="0" bIns="0" rtlCol="0" anchor="ctr"/>
          <a:lstStyle/>
          <a:p>
            <a:pPr algn="ctr" indent="0" marL="0">
              <a:buNone/>
            </a:pPr>
            <a:r>
              <a:rPr lang="en-US" sz="1600" b="1" dirty="0">
                <a:solidFill>
                  <a:schemeClr val="bg1"/>
                </a:solidFill>
              </a:rPr>
              <a:t>Feedback</a:t>
            </a:r>
            <a:endParaRPr lang="en-US" sz="1600" dirty="0"/>
          </a:p>
        </p:txBody>
      </p:sp>
      <p:sp>
        <p:nvSpPr>
          <p:cNvPr id="13" name="Text 11"/>
          <p:cNvSpPr txBox="1"/>
          <p:nvPr/>
        </p:nvSpPr>
        <p:spPr>
          <a:xfrm>
            <a:off x="6903720" y="2084832"/>
            <a:ext cx="1554480" cy="274320"/>
          </a:xfrm>
          <a:prstGeom prst="rect">
            <a:avLst/>
          </a:prstGeom>
          <a:noFill/>
          <a:ln/>
        </p:spPr>
        <p:txBody>
          <a:bodyPr wrap="square" lIns="0" tIns="0" rIns="0" bIns="0" rtlCol="0" anchor="ctr"/>
          <a:lstStyle/>
          <a:p>
            <a:pPr algn="ctr" indent="0" marL="0">
              <a:buNone/>
            </a:pPr>
            <a:r>
              <a:rPr lang="en-US" sz="1100" dirty="0">
                <a:solidFill>
                  <a:schemeClr val="bg1"/>
                </a:solidFill>
              </a:rPr>
              <a:t>FK booking_id</a:t>
            </a:r>
            <a:endParaRPr lang="en-US" sz="1100" dirty="0"/>
          </a:p>
        </p:txBody>
      </p:sp>
      <p:sp>
        <p:nvSpPr>
          <p:cNvPr id="14" name="Customer table"/>
          <p:cNvSpPr/>
          <p:nvPr/>
        </p:nvSpPr>
        <p:spPr>
          <a:xfrm>
            <a:off x="548640" y="3200400"/>
            <a:ext cx="2103120" cy="1005840"/>
          </a:xfrm>
          <a:prstGeom prst="roundRect">
            <a:avLst>
              <a:gd name="adj" fmla="val 9091"/>
            </a:avLst>
          </a:prstGeom>
          <a:solidFill>
            <a:schemeClr val="accent1"/>
          </a:solidFill>
          <a:ln/>
        </p:spPr>
      </p:sp>
      <p:sp>
        <p:nvSpPr>
          <p:cNvPr id="15" name="Text 13"/>
          <p:cNvSpPr txBox="1"/>
          <p:nvPr/>
        </p:nvSpPr>
        <p:spPr>
          <a:xfrm>
            <a:off x="548640" y="3310128"/>
            <a:ext cx="2103120" cy="365760"/>
          </a:xfrm>
          <a:prstGeom prst="rect">
            <a:avLst/>
          </a:prstGeom>
          <a:noFill/>
          <a:ln/>
        </p:spPr>
        <p:txBody>
          <a:bodyPr wrap="square" lIns="0" tIns="0" rIns="0" bIns="0" rtlCol="0" anchor="ctr"/>
          <a:lstStyle/>
          <a:p>
            <a:pPr algn="ctr" indent="0" marL="0">
              <a:buNone/>
            </a:pPr>
            <a:r>
              <a:rPr lang="en-US" sz="1600" b="1" dirty="0">
                <a:solidFill>
                  <a:schemeClr val="bg1"/>
                </a:solidFill>
              </a:rPr>
              <a:t>Customer</a:t>
            </a:r>
            <a:endParaRPr lang="en-US" sz="1600" dirty="0"/>
          </a:p>
        </p:txBody>
      </p:sp>
      <p:sp>
        <p:nvSpPr>
          <p:cNvPr id="16" name="Text 14"/>
          <p:cNvSpPr txBox="1"/>
          <p:nvPr/>
        </p:nvSpPr>
        <p:spPr>
          <a:xfrm>
            <a:off x="548640" y="3822192"/>
            <a:ext cx="2103120" cy="274320"/>
          </a:xfrm>
          <a:prstGeom prst="rect">
            <a:avLst/>
          </a:prstGeom>
          <a:noFill/>
          <a:ln/>
        </p:spPr>
        <p:txBody>
          <a:bodyPr wrap="square" lIns="0" tIns="0" rIns="0" bIns="0" rtlCol="0" anchor="ctr"/>
          <a:lstStyle/>
          <a:p>
            <a:pPr algn="ctr" indent="0" marL="0">
              <a:buNone/>
            </a:pPr>
            <a:r>
              <a:rPr lang="en-US" sz="1100" dirty="0">
                <a:solidFill>
                  <a:schemeClr val="bg1"/>
                </a:solidFill>
              </a:rPr>
              <a:t>PK customer_id</a:t>
            </a:r>
            <a:endParaRPr lang="en-US" sz="1100" dirty="0"/>
          </a:p>
        </p:txBody>
      </p:sp>
      <p:sp>
        <p:nvSpPr>
          <p:cNvPr id="17" name="Booking table"/>
          <p:cNvSpPr/>
          <p:nvPr/>
        </p:nvSpPr>
        <p:spPr>
          <a:xfrm>
            <a:off x="3566160" y="3200400"/>
            <a:ext cx="5120640" cy="1005840"/>
          </a:xfrm>
          <a:prstGeom prst="roundRect">
            <a:avLst>
              <a:gd name="adj" fmla="val 9091"/>
            </a:avLst>
          </a:prstGeom>
          <a:solidFill>
            <a:schemeClr val="accent2"/>
          </a:solidFill>
          <a:ln/>
        </p:spPr>
      </p:sp>
      <p:sp>
        <p:nvSpPr>
          <p:cNvPr id="18" name="Text 16"/>
          <p:cNvSpPr txBox="1"/>
          <p:nvPr/>
        </p:nvSpPr>
        <p:spPr>
          <a:xfrm>
            <a:off x="3566160" y="3310128"/>
            <a:ext cx="5120640" cy="365760"/>
          </a:xfrm>
          <a:prstGeom prst="rect">
            <a:avLst/>
          </a:prstGeom>
          <a:noFill/>
          <a:ln/>
        </p:spPr>
        <p:txBody>
          <a:bodyPr wrap="square" lIns="0" tIns="0" rIns="0" bIns="0" rtlCol="0" anchor="ctr"/>
          <a:lstStyle/>
          <a:p>
            <a:pPr algn="ctr" indent="0" marL="0">
              <a:buNone/>
            </a:pPr>
            <a:r>
              <a:rPr lang="en-US" sz="1600" b="1" dirty="0">
                <a:solidFill>
                  <a:schemeClr val="tx1"/>
                </a:solidFill>
              </a:rPr>
              <a:t>Booking</a:t>
            </a:r>
            <a:endParaRPr lang="en-US" sz="1600" dirty="0"/>
          </a:p>
        </p:txBody>
      </p:sp>
      <p:sp>
        <p:nvSpPr>
          <p:cNvPr id="19" name="Text 17"/>
          <p:cNvSpPr txBox="1"/>
          <p:nvPr/>
        </p:nvSpPr>
        <p:spPr>
          <a:xfrm>
            <a:off x="3566160" y="3822192"/>
            <a:ext cx="5120640" cy="274320"/>
          </a:xfrm>
          <a:prstGeom prst="rect">
            <a:avLst/>
          </a:prstGeom>
          <a:noFill/>
          <a:ln/>
        </p:spPr>
        <p:txBody>
          <a:bodyPr wrap="square" lIns="0" tIns="0" rIns="0" bIns="0" rtlCol="0" anchor="ctr"/>
          <a:lstStyle/>
          <a:p>
            <a:pPr algn="ctr" indent="0" marL="0">
              <a:buNone/>
            </a:pPr>
            <a:r>
              <a:rPr lang="en-US" sz="1100" dirty="0">
                <a:solidFill>
                  <a:schemeClr val="tx1"/>
                </a:solidFill>
              </a:rPr>
              <a:t>PK booking_id  |  FK customer_id, room_id</a:t>
            </a:r>
            <a:endParaRPr lang="en-US" sz="1100" dirty="0"/>
          </a:p>
        </p:txBody>
      </p:sp>
      <p:sp>
        <p:nvSpPr>
          <p:cNvPr id="20" name="Room table"/>
          <p:cNvSpPr/>
          <p:nvPr/>
        </p:nvSpPr>
        <p:spPr>
          <a:xfrm>
            <a:off x="9509760" y="3200400"/>
            <a:ext cx="2103120" cy="1005840"/>
          </a:xfrm>
          <a:prstGeom prst="roundRect">
            <a:avLst>
              <a:gd name="adj" fmla="val 9091"/>
            </a:avLst>
          </a:prstGeom>
          <a:solidFill>
            <a:schemeClr val="accent1"/>
          </a:solidFill>
          <a:ln/>
        </p:spPr>
      </p:sp>
      <p:sp>
        <p:nvSpPr>
          <p:cNvPr id="21" name="Text 19"/>
          <p:cNvSpPr txBox="1"/>
          <p:nvPr/>
        </p:nvSpPr>
        <p:spPr>
          <a:xfrm>
            <a:off x="9509760" y="3310128"/>
            <a:ext cx="2103120" cy="365760"/>
          </a:xfrm>
          <a:prstGeom prst="rect">
            <a:avLst/>
          </a:prstGeom>
          <a:noFill/>
          <a:ln/>
        </p:spPr>
        <p:txBody>
          <a:bodyPr wrap="square" lIns="0" tIns="0" rIns="0" bIns="0" rtlCol="0" anchor="ctr"/>
          <a:lstStyle/>
          <a:p>
            <a:pPr algn="ctr" indent="0" marL="0">
              <a:buNone/>
            </a:pPr>
            <a:r>
              <a:rPr lang="en-US" sz="1600" b="1" dirty="0">
                <a:solidFill>
                  <a:schemeClr val="bg1"/>
                </a:solidFill>
              </a:rPr>
              <a:t>Room</a:t>
            </a:r>
            <a:endParaRPr lang="en-US" sz="1600" dirty="0"/>
          </a:p>
        </p:txBody>
      </p:sp>
      <p:sp>
        <p:nvSpPr>
          <p:cNvPr id="22" name="Text 20"/>
          <p:cNvSpPr txBox="1"/>
          <p:nvPr/>
        </p:nvSpPr>
        <p:spPr>
          <a:xfrm>
            <a:off x="9509760" y="3822192"/>
            <a:ext cx="2103120" cy="274320"/>
          </a:xfrm>
          <a:prstGeom prst="rect">
            <a:avLst/>
          </a:prstGeom>
          <a:noFill/>
          <a:ln/>
        </p:spPr>
        <p:txBody>
          <a:bodyPr wrap="square" lIns="0" tIns="0" rIns="0" bIns="0" rtlCol="0" anchor="ctr"/>
          <a:lstStyle/>
          <a:p>
            <a:pPr algn="ctr" indent="0" marL="0">
              <a:buNone/>
            </a:pPr>
            <a:r>
              <a:rPr lang="en-US" sz="1100" dirty="0">
                <a:solidFill>
                  <a:schemeClr val="bg1"/>
                </a:solidFill>
              </a:rPr>
              <a:t>PK room_id  |  FK type_id</a:t>
            </a:r>
            <a:endParaRPr lang="en-US" sz="1100" dirty="0"/>
          </a:p>
        </p:txBody>
      </p:sp>
      <p:sp>
        <p:nvSpPr>
          <p:cNvPr id="23" name="RoomType table"/>
          <p:cNvSpPr/>
          <p:nvPr/>
        </p:nvSpPr>
        <p:spPr>
          <a:xfrm>
            <a:off x="9509760" y="4937760"/>
            <a:ext cx="2103120" cy="914400"/>
          </a:xfrm>
          <a:prstGeom prst="roundRect">
            <a:avLst>
              <a:gd name="adj" fmla="val 10000"/>
            </a:avLst>
          </a:prstGeom>
          <a:solidFill>
            <a:schemeClr val="accent1"/>
          </a:solidFill>
          <a:ln/>
        </p:spPr>
      </p:sp>
      <p:sp>
        <p:nvSpPr>
          <p:cNvPr id="24" name="Text 22"/>
          <p:cNvSpPr txBox="1"/>
          <p:nvPr/>
        </p:nvSpPr>
        <p:spPr>
          <a:xfrm>
            <a:off x="9509760" y="5047488"/>
            <a:ext cx="2103120" cy="365760"/>
          </a:xfrm>
          <a:prstGeom prst="rect">
            <a:avLst/>
          </a:prstGeom>
          <a:noFill/>
          <a:ln/>
        </p:spPr>
        <p:txBody>
          <a:bodyPr wrap="square" lIns="0" tIns="0" rIns="0" bIns="0" rtlCol="0" anchor="ctr"/>
          <a:lstStyle/>
          <a:p>
            <a:pPr algn="ctr" indent="0" marL="0">
              <a:buNone/>
            </a:pPr>
            <a:r>
              <a:rPr lang="en-US" sz="1600" b="1" dirty="0">
                <a:solidFill>
                  <a:schemeClr val="bg1"/>
                </a:solidFill>
              </a:rPr>
              <a:t>RoomType</a:t>
            </a:r>
            <a:endParaRPr lang="en-US" sz="1600" dirty="0"/>
          </a:p>
        </p:txBody>
      </p:sp>
      <p:sp>
        <p:nvSpPr>
          <p:cNvPr id="25" name="Text 23"/>
          <p:cNvSpPr txBox="1"/>
          <p:nvPr/>
        </p:nvSpPr>
        <p:spPr>
          <a:xfrm>
            <a:off x="9509760" y="5468112"/>
            <a:ext cx="2103120" cy="274320"/>
          </a:xfrm>
          <a:prstGeom prst="rect">
            <a:avLst/>
          </a:prstGeom>
          <a:noFill/>
          <a:ln/>
        </p:spPr>
        <p:txBody>
          <a:bodyPr wrap="square" lIns="0" tIns="0" rIns="0" bIns="0" rtlCol="0" anchor="ctr"/>
          <a:lstStyle/>
          <a:p>
            <a:pPr algn="ctr" indent="0" marL="0">
              <a:buNone/>
            </a:pPr>
            <a:r>
              <a:rPr lang="en-US" sz="1100" dirty="0">
                <a:solidFill>
                  <a:schemeClr val="bg1"/>
                </a:solidFill>
              </a:rPr>
              <a:t>PK type_id</a:t>
            </a:r>
            <a:endParaRPr lang="en-US" sz="1100" dirty="0"/>
          </a:p>
        </p:txBody>
      </p:sp>
      <p:sp>
        <p:nvSpPr>
          <p:cNvPr id="26" name="Staff table"/>
          <p:cNvSpPr/>
          <p:nvPr/>
        </p:nvSpPr>
        <p:spPr>
          <a:xfrm>
            <a:off x="548640" y="4937760"/>
            <a:ext cx="2103120" cy="914400"/>
          </a:xfrm>
          <a:prstGeom prst="roundRect">
            <a:avLst>
              <a:gd name="adj" fmla="val 10000"/>
            </a:avLst>
          </a:prstGeom>
          <a:solidFill>
            <a:schemeClr val="bg2"/>
          </a:solidFill>
          <a:ln/>
        </p:spPr>
      </p:sp>
      <p:sp>
        <p:nvSpPr>
          <p:cNvPr id="27" name="Text 25"/>
          <p:cNvSpPr txBox="1"/>
          <p:nvPr/>
        </p:nvSpPr>
        <p:spPr>
          <a:xfrm>
            <a:off x="548640" y="5047488"/>
            <a:ext cx="2103120" cy="365760"/>
          </a:xfrm>
          <a:prstGeom prst="rect">
            <a:avLst/>
          </a:prstGeom>
          <a:noFill/>
          <a:ln/>
        </p:spPr>
        <p:txBody>
          <a:bodyPr wrap="square" lIns="0" tIns="0" rIns="0" bIns="0" rtlCol="0" anchor="ctr"/>
          <a:lstStyle/>
          <a:p>
            <a:pPr algn="ctr" indent="0" marL="0">
              <a:buNone/>
            </a:pPr>
            <a:r>
              <a:rPr lang="en-US" sz="1600" b="1" dirty="0">
                <a:solidFill>
                  <a:schemeClr val="tx1"/>
                </a:solidFill>
              </a:rPr>
              <a:t>Staff</a:t>
            </a:r>
            <a:endParaRPr lang="en-US" sz="1600" dirty="0"/>
          </a:p>
        </p:txBody>
      </p:sp>
      <p:sp>
        <p:nvSpPr>
          <p:cNvPr id="28" name="Text 26"/>
          <p:cNvSpPr txBox="1"/>
          <p:nvPr/>
        </p:nvSpPr>
        <p:spPr>
          <a:xfrm>
            <a:off x="548640" y="5468112"/>
            <a:ext cx="2103120" cy="274320"/>
          </a:xfrm>
          <a:prstGeom prst="rect">
            <a:avLst/>
          </a:prstGeom>
          <a:noFill/>
          <a:ln/>
        </p:spPr>
        <p:txBody>
          <a:bodyPr wrap="square" lIns="0" tIns="0" rIns="0" bIns="0" rtlCol="0" anchor="ctr"/>
          <a:lstStyle/>
          <a:p>
            <a:pPr algn="ctr" indent="0" marL="0">
              <a:buNone/>
            </a:pPr>
            <a:r>
              <a:rPr lang="en-US" sz="1100" dirty="0">
                <a:solidFill>
                  <a:schemeClr val="tx1"/>
                </a:solidFill>
              </a:rPr>
              <a:t>PK staff_id</a:t>
            </a:r>
            <a:endParaRPr lang="en-US" sz="1100" dirty="0"/>
          </a:p>
        </p:txBody>
      </p:sp>
      <p:sp>
        <p:nvSpPr>
          <p:cNvPr id="29" name="Text 27"/>
          <p:cNvSpPr txBox="1"/>
          <p:nvPr/>
        </p:nvSpPr>
        <p:spPr>
          <a:xfrm>
            <a:off x="2743200" y="3383280"/>
            <a:ext cx="731520" cy="274320"/>
          </a:xfrm>
          <a:prstGeom prst="rect">
            <a:avLst/>
          </a:prstGeom>
          <a:noFill/>
          <a:ln/>
        </p:spPr>
        <p:txBody>
          <a:bodyPr wrap="square" lIns="0" tIns="0" rIns="0" bIns="0" rtlCol="0" anchor="t"/>
          <a:lstStyle/>
          <a:p>
            <a:pPr algn="ctr" indent="0" marL="0">
              <a:buNone/>
            </a:pPr>
            <a:r>
              <a:rPr lang="en-US" sz="1100" b="1" dirty="0">
                <a:solidFill>
                  <a:schemeClr val="tx2"/>
                </a:solidFill>
              </a:rPr>
              <a:t>1 : N</a:t>
            </a:r>
            <a:endParaRPr lang="en-US" sz="1100" dirty="0"/>
          </a:p>
        </p:txBody>
      </p:sp>
      <p:sp>
        <p:nvSpPr>
          <p:cNvPr id="30" name="Text 28"/>
          <p:cNvSpPr txBox="1"/>
          <p:nvPr/>
        </p:nvSpPr>
        <p:spPr>
          <a:xfrm>
            <a:off x="8732520" y="3383280"/>
            <a:ext cx="731520" cy="274320"/>
          </a:xfrm>
          <a:prstGeom prst="rect">
            <a:avLst/>
          </a:prstGeom>
          <a:noFill/>
          <a:ln/>
        </p:spPr>
        <p:txBody>
          <a:bodyPr wrap="square" lIns="0" tIns="0" rIns="0" bIns="0" rtlCol="0" anchor="t"/>
          <a:lstStyle/>
          <a:p>
            <a:pPr algn="ctr" indent="0" marL="0">
              <a:buNone/>
            </a:pPr>
            <a:r>
              <a:rPr lang="en-US" sz="1100" b="1" dirty="0">
                <a:solidFill>
                  <a:schemeClr val="tx2"/>
                </a:solidFill>
              </a:rPr>
              <a:t>N : 1</a:t>
            </a:r>
            <a:endParaRPr lang="en-US" sz="1100" dirty="0"/>
          </a:p>
        </p:txBody>
      </p:sp>
      <p:sp>
        <p:nvSpPr>
          <p:cNvPr id="31" name="Text 29"/>
          <p:cNvSpPr txBox="1"/>
          <p:nvPr/>
        </p:nvSpPr>
        <p:spPr>
          <a:xfrm>
            <a:off x="10652760" y="4434840"/>
            <a:ext cx="731520" cy="274320"/>
          </a:xfrm>
          <a:prstGeom prst="rect">
            <a:avLst/>
          </a:prstGeom>
          <a:noFill/>
          <a:ln/>
        </p:spPr>
        <p:txBody>
          <a:bodyPr wrap="square" lIns="0" tIns="0" rIns="0" bIns="0" rtlCol="0" anchor="t"/>
          <a:lstStyle/>
          <a:p>
            <a:pPr indent="0" marL="0">
              <a:buNone/>
            </a:pPr>
            <a:r>
              <a:rPr lang="en-US" sz="1100" b="1" dirty="0">
                <a:solidFill>
                  <a:schemeClr val="tx2"/>
                </a:solidFill>
              </a:rPr>
              <a:t>N : 1</a:t>
            </a:r>
            <a:endParaRPr lang="en-US" sz="1100" dirty="0"/>
          </a:p>
        </p:txBody>
      </p:sp>
      <p:sp>
        <p:nvSpPr>
          <p:cNvPr id="32" name="Text 30"/>
          <p:cNvSpPr txBox="1"/>
          <p:nvPr/>
        </p:nvSpPr>
        <p:spPr>
          <a:xfrm>
            <a:off x="3566160" y="4846320"/>
            <a:ext cx="5120640" cy="1005840"/>
          </a:xfrm>
          <a:prstGeom prst="rect">
            <a:avLst/>
          </a:prstGeom>
          <a:noFill/>
          <a:ln/>
        </p:spPr>
        <p:txBody>
          <a:bodyPr wrap="square" lIns="0" tIns="0" rIns="0" bIns="0" rtlCol="0" anchor="t"/>
          <a:lstStyle/>
          <a:p>
            <a:pPr indent="0" marL="0">
              <a:buNone/>
            </a:pPr>
            <a:r>
              <a:rPr lang="en-US" sz="1600" dirty="0">
                <a:solidFill>
                  <a:schemeClr val="tx1"/>
                </a:solidFill>
              </a:rPr>
              <a:t>Booking is the central table. Every other table links to it with a foreign key, so no data is repeated.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Normalization up to 3NF</a:t>
            </a:r>
            <a:endParaRPr lang="en-US" sz="3600" dirty="0"/>
          </a:p>
        </p:txBody>
      </p:sp>
      <p:sp>
        <p:nvSpPr>
          <p:cNvPr id="3" name="normal form card 1"/>
          <p:cNvSpPr/>
          <p:nvPr/>
        </p:nvSpPr>
        <p:spPr>
          <a:xfrm>
            <a:off x="548640" y="1463040"/>
            <a:ext cx="3566160" cy="3840480"/>
          </a:xfrm>
          <a:prstGeom prst="roundRect">
            <a:avLst>
              <a:gd name="adj" fmla="val 3077"/>
            </a:avLst>
          </a:prstGeom>
          <a:solidFill>
            <a:schemeClr val="bg2"/>
          </a:solidFill>
          <a:ln/>
        </p:spPr>
      </p:sp>
      <p:sp>
        <p:nvSpPr>
          <p:cNvPr id="4" name="nf badge 1NF"/>
          <p:cNvSpPr txBox="1"/>
          <p:nvPr/>
        </p:nvSpPr>
        <p:spPr>
          <a:xfrm>
            <a:off x="822960" y="1737360"/>
            <a:ext cx="914400" cy="9144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1NF</a:t>
            </a:r>
            <a:endParaRPr lang="en-US" sz="2000" dirty="0"/>
          </a:p>
        </p:txBody>
      </p:sp>
      <p:sp>
        <p:nvSpPr>
          <p:cNvPr id="5" name="Text 3"/>
          <p:cNvSpPr txBox="1"/>
          <p:nvPr/>
        </p:nvSpPr>
        <p:spPr>
          <a:xfrm>
            <a:off x="1920240" y="1737360"/>
            <a:ext cx="2011680" cy="914400"/>
          </a:xfrm>
          <a:prstGeom prst="rect">
            <a:avLst/>
          </a:prstGeom>
          <a:noFill/>
          <a:ln/>
        </p:spPr>
        <p:txBody>
          <a:bodyPr wrap="square" lIns="0" tIns="0" rIns="0" bIns="0" rtlCol="0" anchor="ctr"/>
          <a:lstStyle/>
          <a:p>
            <a:pPr indent="0" marL="0">
              <a:buNone/>
            </a:pPr>
            <a:r>
              <a:rPr lang="en-US" sz="1800" b="1" dirty="0">
                <a:solidFill>
                  <a:schemeClr val="tx2"/>
                </a:solidFill>
              </a:rPr>
              <a:t>One value per cell</a:t>
            </a:r>
            <a:endParaRPr lang="en-US" sz="1800" dirty="0"/>
          </a:p>
        </p:txBody>
      </p:sp>
      <p:sp>
        <p:nvSpPr>
          <p:cNvPr id="6" name="Text 4"/>
          <p:cNvSpPr txBox="1"/>
          <p:nvPr/>
        </p:nvSpPr>
        <p:spPr>
          <a:xfrm>
            <a:off x="822960" y="2926080"/>
            <a:ext cx="3017520" cy="1097280"/>
          </a:xfrm>
          <a:prstGeom prst="rect">
            <a:avLst/>
          </a:prstGeom>
          <a:noFill/>
          <a:ln/>
        </p:spPr>
        <p:txBody>
          <a:bodyPr wrap="square" lIns="0" tIns="0" rIns="0" bIns="0" rtlCol="0" anchor="t"/>
          <a:lstStyle/>
          <a:p>
            <a:pPr indent="0" marL="0">
              <a:buNone/>
            </a:pPr>
            <a:r>
              <a:rPr lang="en-US" sz="1600" dirty="0">
                <a:solidFill>
                  <a:schemeClr val="tx1"/>
                </a:solidFill>
              </a:rPr>
              <a:t>Every column holds a single value and every row is unique.</a:t>
            </a:r>
            <a:endParaRPr lang="en-US" sz="1600" dirty="0"/>
          </a:p>
        </p:txBody>
      </p:sp>
      <p:sp>
        <p:nvSpPr>
          <p:cNvPr id="7" name="Text 5"/>
          <p:cNvSpPr txBox="1"/>
          <p:nvPr/>
        </p:nvSpPr>
        <p:spPr>
          <a:xfrm>
            <a:off x="822960" y="4114800"/>
            <a:ext cx="3017520" cy="1005840"/>
          </a:xfrm>
          <a:prstGeom prst="rect">
            <a:avLst/>
          </a:prstGeom>
          <a:noFill/>
          <a:ln/>
        </p:spPr>
        <p:txBody>
          <a:bodyPr wrap="square" lIns="0" tIns="0" rIns="0" bIns="0" rtlCol="0" anchor="t"/>
          <a:lstStyle/>
          <a:p>
            <a:pPr indent="0" marL="0">
              <a:buNone/>
            </a:pPr>
            <a:r>
              <a:rPr lang="en-US" sz="1400" i="1" dirty="0">
                <a:solidFill>
                  <a:schemeClr val="accent4"/>
                </a:solidFill>
              </a:rPr>
              <a:t>Example: a customer's phone is one value in one column.</a:t>
            </a:r>
            <a:endParaRPr lang="en-US" sz="1400" dirty="0"/>
          </a:p>
        </p:txBody>
      </p:sp>
      <p:sp>
        <p:nvSpPr>
          <p:cNvPr id="8" name="normal form card 2"/>
          <p:cNvSpPr/>
          <p:nvPr/>
        </p:nvSpPr>
        <p:spPr>
          <a:xfrm>
            <a:off x="4311396" y="1463040"/>
            <a:ext cx="3566160" cy="3840480"/>
          </a:xfrm>
          <a:prstGeom prst="roundRect">
            <a:avLst>
              <a:gd name="adj" fmla="val 3077"/>
            </a:avLst>
          </a:prstGeom>
          <a:solidFill>
            <a:schemeClr val="bg2"/>
          </a:solidFill>
          <a:ln/>
        </p:spPr>
      </p:sp>
      <p:sp>
        <p:nvSpPr>
          <p:cNvPr id="9" name="nf badge 2NF"/>
          <p:cNvSpPr txBox="1"/>
          <p:nvPr/>
        </p:nvSpPr>
        <p:spPr>
          <a:xfrm>
            <a:off x="4585716" y="1737360"/>
            <a:ext cx="914400" cy="9144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2NF</a:t>
            </a:r>
            <a:endParaRPr lang="en-US" sz="2000" dirty="0"/>
          </a:p>
        </p:txBody>
      </p:sp>
      <p:sp>
        <p:nvSpPr>
          <p:cNvPr id="10" name="Text 8"/>
          <p:cNvSpPr txBox="1"/>
          <p:nvPr/>
        </p:nvSpPr>
        <p:spPr>
          <a:xfrm>
            <a:off x="5682996" y="1737360"/>
            <a:ext cx="2011680" cy="914400"/>
          </a:xfrm>
          <a:prstGeom prst="rect">
            <a:avLst/>
          </a:prstGeom>
          <a:noFill/>
          <a:ln/>
        </p:spPr>
        <p:txBody>
          <a:bodyPr wrap="square" lIns="0" tIns="0" rIns="0" bIns="0" rtlCol="0" anchor="ctr"/>
          <a:lstStyle/>
          <a:p>
            <a:pPr indent="0" marL="0">
              <a:buNone/>
            </a:pPr>
            <a:r>
              <a:rPr lang="en-US" sz="1800" b="1" dirty="0">
                <a:solidFill>
                  <a:schemeClr val="tx2"/>
                </a:solidFill>
              </a:rPr>
              <a:t>No partial dependency</a:t>
            </a:r>
            <a:endParaRPr lang="en-US" sz="1800" dirty="0"/>
          </a:p>
        </p:txBody>
      </p:sp>
      <p:sp>
        <p:nvSpPr>
          <p:cNvPr id="11" name="Text 9"/>
          <p:cNvSpPr txBox="1"/>
          <p:nvPr/>
        </p:nvSpPr>
        <p:spPr>
          <a:xfrm>
            <a:off x="4585716" y="2926080"/>
            <a:ext cx="3017520" cy="1097280"/>
          </a:xfrm>
          <a:prstGeom prst="rect">
            <a:avLst/>
          </a:prstGeom>
          <a:noFill/>
          <a:ln/>
        </p:spPr>
        <p:txBody>
          <a:bodyPr wrap="square" lIns="0" tIns="0" rIns="0" bIns="0" rtlCol="0" anchor="t"/>
          <a:lstStyle/>
          <a:p>
            <a:pPr indent="0" marL="0">
              <a:buNone/>
            </a:pPr>
            <a:r>
              <a:rPr lang="en-US" sz="1600" dirty="0">
                <a:solidFill>
                  <a:schemeClr val="tx1"/>
                </a:solidFill>
              </a:rPr>
              <a:t>Every table has a single-column primary key, so each column depends on the whole key.</a:t>
            </a:r>
            <a:endParaRPr lang="en-US" sz="1600" dirty="0"/>
          </a:p>
        </p:txBody>
      </p:sp>
      <p:sp>
        <p:nvSpPr>
          <p:cNvPr id="12" name="Text 10"/>
          <p:cNvSpPr txBox="1"/>
          <p:nvPr/>
        </p:nvSpPr>
        <p:spPr>
          <a:xfrm>
            <a:off x="4585716" y="4114800"/>
            <a:ext cx="3017520" cy="1005840"/>
          </a:xfrm>
          <a:prstGeom prst="rect">
            <a:avLst/>
          </a:prstGeom>
          <a:noFill/>
          <a:ln/>
        </p:spPr>
        <p:txBody>
          <a:bodyPr wrap="square" lIns="0" tIns="0" rIns="0" bIns="0" rtlCol="0" anchor="t"/>
          <a:lstStyle/>
          <a:p>
            <a:pPr indent="0" marL="0">
              <a:buNone/>
            </a:pPr>
            <a:r>
              <a:rPr lang="en-US" sz="1400" i="1" dirty="0">
                <a:solidFill>
                  <a:schemeClr val="accent4"/>
                </a:solidFill>
              </a:rPr>
              <a:t>Example: booking_id fully decides check-in and check-out.</a:t>
            </a:r>
            <a:endParaRPr lang="en-US" sz="1400" dirty="0"/>
          </a:p>
        </p:txBody>
      </p:sp>
      <p:sp>
        <p:nvSpPr>
          <p:cNvPr id="13" name="normal form card 3"/>
          <p:cNvSpPr/>
          <p:nvPr/>
        </p:nvSpPr>
        <p:spPr>
          <a:xfrm>
            <a:off x="8074152" y="1463040"/>
            <a:ext cx="3566160" cy="3840480"/>
          </a:xfrm>
          <a:prstGeom prst="roundRect">
            <a:avLst>
              <a:gd name="adj" fmla="val 3077"/>
            </a:avLst>
          </a:prstGeom>
          <a:solidFill>
            <a:schemeClr val="bg2"/>
          </a:solidFill>
          <a:ln/>
        </p:spPr>
      </p:sp>
      <p:sp>
        <p:nvSpPr>
          <p:cNvPr id="14" name="nf badge 3NF"/>
          <p:cNvSpPr txBox="1"/>
          <p:nvPr/>
        </p:nvSpPr>
        <p:spPr>
          <a:xfrm>
            <a:off x="8348472" y="1737360"/>
            <a:ext cx="914400" cy="91440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1"/>
                </a:solidFill>
              </a:rPr>
              <a:t>3NF</a:t>
            </a:r>
            <a:endParaRPr lang="en-US" sz="2000" dirty="0"/>
          </a:p>
        </p:txBody>
      </p:sp>
      <p:sp>
        <p:nvSpPr>
          <p:cNvPr id="15" name="Text 13"/>
          <p:cNvSpPr txBox="1"/>
          <p:nvPr/>
        </p:nvSpPr>
        <p:spPr>
          <a:xfrm>
            <a:off x="9445752" y="1737360"/>
            <a:ext cx="2011680" cy="914400"/>
          </a:xfrm>
          <a:prstGeom prst="rect">
            <a:avLst/>
          </a:prstGeom>
          <a:noFill/>
          <a:ln/>
        </p:spPr>
        <p:txBody>
          <a:bodyPr wrap="square" lIns="0" tIns="0" rIns="0" bIns="0" rtlCol="0" anchor="ctr"/>
          <a:lstStyle/>
          <a:p>
            <a:pPr indent="0" marL="0">
              <a:buNone/>
            </a:pPr>
            <a:r>
              <a:rPr lang="en-US" sz="1800" b="1" dirty="0">
                <a:solidFill>
                  <a:schemeClr val="tx2"/>
                </a:solidFill>
              </a:rPr>
              <a:t>No transitive dependency</a:t>
            </a:r>
            <a:endParaRPr lang="en-US" sz="1800" dirty="0"/>
          </a:p>
        </p:txBody>
      </p:sp>
      <p:sp>
        <p:nvSpPr>
          <p:cNvPr id="16" name="Text 14"/>
          <p:cNvSpPr txBox="1"/>
          <p:nvPr/>
        </p:nvSpPr>
        <p:spPr>
          <a:xfrm>
            <a:off x="8348472" y="2926080"/>
            <a:ext cx="3017520" cy="1097280"/>
          </a:xfrm>
          <a:prstGeom prst="rect">
            <a:avLst/>
          </a:prstGeom>
          <a:noFill/>
          <a:ln/>
        </p:spPr>
        <p:txBody>
          <a:bodyPr wrap="square" lIns="0" tIns="0" rIns="0" bIns="0" rtlCol="0" anchor="t"/>
          <a:lstStyle/>
          <a:p>
            <a:pPr indent="0" marL="0">
              <a:buNone/>
            </a:pPr>
            <a:r>
              <a:rPr lang="en-US" sz="1600" dirty="0">
                <a:solidFill>
                  <a:schemeClr val="tx1"/>
                </a:solidFill>
              </a:rPr>
              <a:t>Columns depend only on the key, not on other non-key columns.</a:t>
            </a:r>
            <a:endParaRPr lang="en-US" sz="1600" dirty="0"/>
          </a:p>
        </p:txBody>
      </p:sp>
      <p:sp>
        <p:nvSpPr>
          <p:cNvPr id="17" name="Text 15"/>
          <p:cNvSpPr txBox="1"/>
          <p:nvPr/>
        </p:nvSpPr>
        <p:spPr>
          <a:xfrm>
            <a:off x="8348472" y="4114800"/>
            <a:ext cx="3017520" cy="1005840"/>
          </a:xfrm>
          <a:prstGeom prst="rect">
            <a:avLst/>
          </a:prstGeom>
          <a:noFill/>
          <a:ln/>
        </p:spPr>
        <p:txBody>
          <a:bodyPr wrap="square" lIns="0" tIns="0" rIns="0" bIns="0" rtlCol="0" anchor="t"/>
          <a:lstStyle/>
          <a:p>
            <a:pPr indent="0" marL="0">
              <a:buNone/>
            </a:pPr>
            <a:r>
              <a:rPr lang="en-US" sz="1400" i="1" dirty="0">
                <a:solidFill>
                  <a:schemeClr val="accent4"/>
                </a:solidFill>
              </a:rPr>
              <a:t>Example: price and capacity depend on room type, so they live in RoomType, not Room.</a:t>
            </a:r>
            <a:endParaRPr lang="en-US" sz="1400" dirty="0"/>
          </a:p>
        </p:txBody>
      </p:sp>
      <p:sp>
        <p:nvSpPr>
          <p:cNvPr id="18" name="normal form banner"/>
          <p:cNvSpPr/>
          <p:nvPr/>
        </p:nvSpPr>
        <p:spPr>
          <a:xfrm>
            <a:off x="548640" y="5532120"/>
            <a:ext cx="11091672" cy="685800"/>
          </a:xfrm>
          <a:prstGeom prst="roundRect">
            <a:avLst>
              <a:gd name="adj" fmla="val 16000"/>
            </a:avLst>
          </a:prstGeom>
          <a:solidFill>
            <a:schemeClr val="accent1"/>
          </a:solidFill>
          <a:ln/>
        </p:spPr>
      </p:sp>
      <p:sp>
        <p:nvSpPr>
          <p:cNvPr id="19" name="Text 17"/>
          <p:cNvSpPr txBox="1"/>
          <p:nvPr/>
        </p:nvSpPr>
        <p:spPr>
          <a:xfrm>
            <a:off x="822960" y="5532120"/>
            <a:ext cx="10607040" cy="685800"/>
          </a:xfrm>
          <a:prstGeom prst="rect">
            <a:avLst/>
          </a:prstGeom>
          <a:noFill/>
          <a:ln/>
        </p:spPr>
        <p:txBody>
          <a:bodyPr wrap="square" lIns="0" tIns="0" rIns="0" bIns="0" rtlCol="0" anchor="ctr"/>
          <a:lstStyle/>
          <a:p>
            <a:pPr indent="0" marL="0">
              <a:buNone/>
            </a:pPr>
            <a:r>
              <a:rPr lang="en-US" sz="1800" dirty="0">
                <a:solidFill>
                  <a:schemeClr val="bg1"/>
                </a:solidFill>
              </a:rPr>
              <a:t>Result: no repeated data and no update mistakes.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Triggers automate the room lifecycle</a:t>
            </a:r>
            <a:endParaRPr lang="en-US" sz="3600" dirty="0"/>
          </a:p>
        </p:txBody>
      </p:sp>
      <p:sp>
        <p:nvSpPr>
          <p:cNvPr id="3" name="state Booked"/>
          <p:cNvSpPr txBox="1"/>
          <p:nvPr/>
        </p:nvSpPr>
        <p:spPr>
          <a:xfrm>
            <a:off x="548640" y="1554480"/>
            <a:ext cx="2377440" cy="914400"/>
          </a:xfrm>
          <a:prstGeom prst="roundRect">
            <a:avLst>
              <a:gd name="adj" fmla="val 12000"/>
            </a:avLst>
          </a:prstGeom>
          <a:solidFill>
            <a:schemeClr val="accent1"/>
          </a:solidFill>
          <a:ln/>
        </p:spPr>
        <p:txBody>
          <a:bodyPr wrap="square" lIns="0" tIns="0" rIns="0" bIns="0" rtlCol="0" anchor="ctr"/>
          <a:lstStyle/>
          <a:p>
            <a:pPr algn="ctr" indent="0" marL="0">
              <a:buNone/>
            </a:pPr>
            <a:r>
              <a:rPr lang="en-US" sz="2000" b="1" dirty="0">
                <a:solidFill>
                  <a:schemeClr val="bg1"/>
                </a:solidFill>
              </a:rPr>
              <a:t>Booked</a:t>
            </a:r>
            <a:endParaRPr lang="en-US" sz="2000" dirty="0"/>
          </a:p>
        </p:txBody>
      </p:sp>
      <p:sp>
        <p:nvSpPr>
          <p:cNvPr id="4" name="action card 1"/>
          <p:cNvSpPr/>
          <p:nvPr/>
        </p:nvSpPr>
        <p:spPr>
          <a:xfrm>
            <a:off x="548640" y="2926080"/>
            <a:ext cx="2377440" cy="2286000"/>
          </a:xfrm>
          <a:prstGeom prst="roundRect">
            <a:avLst>
              <a:gd name="adj" fmla="val 4800"/>
            </a:avLst>
          </a:prstGeom>
          <a:solidFill>
            <a:schemeClr val="bg2"/>
          </a:solidFill>
          <a:ln/>
        </p:spPr>
      </p:sp>
      <p:sp>
        <p:nvSpPr>
          <p:cNvPr id="5" name="Text 3"/>
          <p:cNvSpPr txBox="1"/>
          <p:nvPr/>
        </p:nvSpPr>
        <p:spPr>
          <a:xfrm>
            <a:off x="731520" y="3063240"/>
            <a:ext cx="2011680" cy="59436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No trigger: database rule</a:t>
            </a:r>
            <a:endParaRPr lang="en-US" sz="1200" dirty="0"/>
          </a:p>
        </p:txBody>
      </p:sp>
      <p:sp>
        <p:nvSpPr>
          <p:cNvPr id="6" name="Text 4"/>
          <p:cNvSpPr txBox="1"/>
          <p:nvPr/>
        </p:nvSpPr>
        <p:spPr>
          <a:xfrm>
            <a:off x="731520" y="3794760"/>
            <a:ext cx="2011680" cy="1280160"/>
          </a:xfrm>
          <a:prstGeom prst="rect">
            <a:avLst/>
          </a:prstGeom>
          <a:noFill/>
          <a:ln/>
        </p:spPr>
        <p:txBody>
          <a:bodyPr wrap="square" lIns="0" tIns="0" rIns="0" bIns="0" rtlCol="0" anchor="t"/>
          <a:lstStyle/>
          <a:p>
            <a:pPr indent="0" marL="0">
              <a:buNone/>
            </a:pPr>
            <a:r>
              <a:rPr lang="en-US" sz="1600" dirty="0">
                <a:solidFill>
                  <a:schemeClr val="tx1"/>
                </a:solidFill>
              </a:rPr>
              <a:t>Availability check blocks overlapping dates</a:t>
            </a:r>
            <a:endParaRPr lang="en-US" sz="1600" dirty="0"/>
          </a:p>
        </p:txBody>
      </p:sp>
      <p:sp>
        <p:nvSpPr>
          <p:cNvPr id="7" name="arrow"/>
          <p:cNvSpPr/>
          <p:nvPr/>
        </p:nvSpPr>
        <p:spPr>
          <a:xfrm>
            <a:off x="2990088" y="1828800"/>
            <a:ext cx="420624" cy="365760"/>
          </a:xfrm>
          <a:prstGeom prst="rightArrow">
            <a:avLst/>
          </a:prstGeom>
          <a:solidFill>
            <a:schemeClr val="accent2"/>
          </a:solidFill>
          <a:ln/>
        </p:spPr>
      </p:sp>
      <p:sp>
        <p:nvSpPr>
          <p:cNvPr id="8" name="state Checked-In"/>
          <p:cNvSpPr txBox="1"/>
          <p:nvPr/>
        </p:nvSpPr>
        <p:spPr>
          <a:xfrm>
            <a:off x="3474720" y="1554480"/>
            <a:ext cx="2377440" cy="914400"/>
          </a:xfrm>
          <a:prstGeom prst="roundRect">
            <a:avLst>
              <a:gd name="adj" fmla="val 12000"/>
            </a:avLst>
          </a:prstGeom>
          <a:solidFill>
            <a:schemeClr val="accent1"/>
          </a:solidFill>
          <a:ln/>
        </p:spPr>
        <p:txBody>
          <a:bodyPr wrap="square" lIns="0" tIns="0" rIns="0" bIns="0" rtlCol="0" anchor="ctr"/>
          <a:lstStyle/>
          <a:p>
            <a:pPr algn="ctr" indent="0" marL="0">
              <a:buNone/>
            </a:pPr>
            <a:r>
              <a:rPr lang="en-US" sz="2000" b="1" dirty="0">
                <a:solidFill>
                  <a:schemeClr val="bg1"/>
                </a:solidFill>
              </a:rPr>
              <a:t>Checked-In</a:t>
            </a:r>
            <a:endParaRPr lang="en-US" sz="2000" dirty="0"/>
          </a:p>
        </p:txBody>
      </p:sp>
      <p:sp>
        <p:nvSpPr>
          <p:cNvPr id="9" name="action card 2"/>
          <p:cNvSpPr/>
          <p:nvPr/>
        </p:nvSpPr>
        <p:spPr>
          <a:xfrm>
            <a:off x="3474720" y="2926080"/>
            <a:ext cx="2377440" cy="2286000"/>
          </a:xfrm>
          <a:prstGeom prst="roundRect">
            <a:avLst>
              <a:gd name="adj" fmla="val 4800"/>
            </a:avLst>
          </a:prstGeom>
          <a:solidFill>
            <a:schemeClr val="bg2"/>
          </a:solidFill>
          <a:ln/>
        </p:spPr>
      </p:sp>
      <p:sp>
        <p:nvSpPr>
          <p:cNvPr id="10" name="Text 8"/>
          <p:cNvSpPr txBox="1"/>
          <p:nvPr/>
        </p:nvSpPr>
        <p:spPr>
          <a:xfrm>
            <a:off x="3657600" y="3063240"/>
            <a:ext cx="2011680" cy="59436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trg_checkin</a:t>
            </a:r>
            <a:endParaRPr lang="en-US" sz="1200" dirty="0"/>
          </a:p>
        </p:txBody>
      </p:sp>
      <p:sp>
        <p:nvSpPr>
          <p:cNvPr id="11" name="Text 9"/>
          <p:cNvSpPr txBox="1"/>
          <p:nvPr/>
        </p:nvSpPr>
        <p:spPr>
          <a:xfrm>
            <a:off x="3657600" y="3794760"/>
            <a:ext cx="2011680" cy="1280160"/>
          </a:xfrm>
          <a:prstGeom prst="rect">
            <a:avLst/>
          </a:prstGeom>
          <a:noFill/>
          <a:ln/>
        </p:spPr>
        <p:txBody>
          <a:bodyPr wrap="square" lIns="0" tIns="0" rIns="0" bIns="0" rtlCol="0" anchor="t"/>
          <a:lstStyle/>
          <a:p>
            <a:pPr indent="0" marL="0">
              <a:buNone/>
            </a:pPr>
            <a:r>
              <a:rPr lang="en-US" sz="1600" dirty="0">
                <a:solidFill>
                  <a:schemeClr val="tx1"/>
                </a:solidFill>
              </a:rPr>
              <a:t>Room status becomes Occupied</a:t>
            </a:r>
            <a:endParaRPr lang="en-US" sz="1600" dirty="0"/>
          </a:p>
        </p:txBody>
      </p:sp>
      <p:sp>
        <p:nvSpPr>
          <p:cNvPr id="12" name="arrow"/>
          <p:cNvSpPr/>
          <p:nvPr/>
        </p:nvSpPr>
        <p:spPr>
          <a:xfrm>
            <a:off x="5916168" y="1828800"/>
            <a:ext cx="420624" cy="365760"/>
          </a:xfrm>
          <a:prstGeom prst="rightArrow">
            <a:avLst/>
          </a:prstGeom>
          <a:solidFill>
            <a:schemeClr val="accent2"/>
          </a:solidFill>
          <a:ln/>
        </p:spPr>
      </p:sp>
      <p:sp>
        <p:nvSpPr>
          <p:cNvPr id="13" name="state Checked-Out"/>
          <p:cNvSpPr txBox="1"/>
          <p:nvPr/>
        </p:nvSpPr>
        <p:spPr>
          <a:xfrm>
            <a:off x="6400800" y="1554480"/>
            <a:ext cx="2377440" cy="914400"/>
          </a:xfrm>
          <a:prstGeom prst="roundRect">
            <a:avLst>
              <a:gd name="adj" fmla="val 12000"/>
            </a:avLst>
          </a:prstGeom>
          <a:solidFill>
            <a:schemeClr val="accent1"/>
          </a:solidFill>
          <a:ln/>
        </p:spPr>
        <p:txBody>
          <a:bodyPr wrap="square" lIns="0" tIns="0" rIns="0" bIns="0" rtlCol="0" anchor="ctr"/>
          <a:lstStyle/>
          <a:p>
            <a:pPr algn="ctr" indent="0" marL="0">
              <a:buNone/>
            </a:pPr>
            <a:r>
              <a:rPr lang="en-US" sz="2000" b="1" dirty="0">
                <a:solidFill>
                  <a:schemeClr val="bg1"/>
                </a:solidFill>
              </a:rPr>
              <a:t>Checked-Out</a:t>
            </a:r>
            <a:endParaRPr lang="en-US" sz="2000" dirty="0"/>
          </a:p>
        </p:txBody>
      </p:sp>
      <p:sp>
        <p:nvSpPr>
          <p:cNvPr id="14" name="action card 3"/>
          <p:cNvSpPr/>
          <p:nvPr/>
        </p:nvSpPr>
        <p:spPr>
          <a:xfrm>
            <a:off x="6400800" y="2926080"/>
            <a:ext cx="2377440" cy="2286000"/>
          </a:xfrm>
          <a:prstGeom prst="roundRect">
            <a:avLst>
              <a:gd name="adj" fmla="val 4800"/>
            </a:avLst>
          </a:prstGeom>
          <a:solidFill>
            <a:schemeClr val="bg2"/>
          </a:solidFill>
          <a:ln/>
        </p:spPr>
      </p:sp>
      <p:sp>
        <p:nvSpPr>
          <p:cNvPr id="15" name="Text 13"/>
          <p:cNvSpPr txBox="1"/>
          <p:nvPr/>
        </p:nvSpPr>
        <p:spPr>
          <a:xfrm>
            <a:off x="6583680" y="3063240"/>
            <a:ext cx="2011680" cy="59436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trg_release_room</a:t>
            </a:r>
            <a:endParaRPr lang="en-US" sz="1200" dirty="0"/>
          </a:p>
        </p:txBody>
      </p:sp>
      <p:sp>
        <p:nvSpPr>
          <p:cNvPr id="16" name="Text 14"/>
          <p:cNvSpPr txBox="1"/>
          <p:nvPr/>
        </p:nvSpPr>
        <p:spPr>
          <a:xfrm>
            <a:off x="6583680" y="3794760"/>
            <a:ext cx="2011680" cy="1280160"/>
          </a:xfrm>
          <a:prstGeom prst="rect">
            <a:avLst/>
          </a:prstGeom>
          <a:noFill/>
          <a:ln/>
        </p:spPr>
        <p:txBody>
          <a:bodyPr wrap="square" lIns="0" tIns="0" rIns="0" bIns="0" rtlCol="0" anchor="t"/>
          <a:lstStyle/>
          <a:p>
            <a:pPr indent="0" marL="0">
              <a:buNone/>
            </a:pPr>
            <a:r>
              <a:rPr lang="en-US" sz="1600" dirty="0">
                <a:solidFill>
                  <a:schemeClr val="tx1"/>
                </a:solidFill>
              </a:rPr>
              <a:t>Room status becomes Available</a:t>
            </a:r>
            <a:endParaRPr lang="en-US" sz="1600" dirty="0"/>
          </a:p>
        </p:txBody>
      </p:sp>
      <p:sp>
        <p:nvSpPr>
          <p:cNvPr id="17" name="state Cancelled"/>
          <p:cNvSpPr txBox="1"/>
          <p:nvPr/>
        </p:nvSpPr>
        <p:spPr>
          <a:xfrm>
            <a:off x="9326880" y="1554480"/>
            <a:ext cx="2377440" cy="914400"/>
          </a:xfrm>
          <a:prstGeom prst="roundRect">
            <a:avLst>
              <a:gd name="adj" fmla="val 12000"/>
            </a:avLst>
          </a:prstGeom>
          <a:solidFill>
            <a:schemeClr val="accent4"/>
          </a:solidFill>
          <a:ln/>
        </p:spPr>
        <p:txBody>
          <a:bodyPr wrap="square" lIns="0" tIns="0" rIns="0" bIns="0" rtlCol="0" anchor="ctr"/>
          <a:lstStyle/>
          <a:p>
            <a:pPr algn="ctr" indent="0" marL="0">
              <a:buNone/>
            </a:pPr>
            <a:r>
              <a:rPr lang="en-US" sz="2000" b="1" dirty="0">
                <a:solidFill>
                  <a:schemeClr val="bg1"/>
                </a:solidFill>
              </a:rPr>
              <a:t>Cancelled</a:t>
            </a:r>
            <a:endParaRPr lang="en-US" sz="2000" dirty="0"/>
          </a:p>
        </p:txBody>
      </p:sp>
      <p:sp>
        <p:nvSpPr>
          <p:cNvPr id="18" name="action card 4"/>
          <p:cNvSpPr/>
          <p:nvPr/>
        </p:nvSpPr>
        <p:spPr>
          <a:xfrm>
            <a:off x="9326880" y="2926080"/>
            <a:ext cx="2377440" cy="2286000"/>
          </a:xfrm>
          <a:prstGeom prst="roundRect">
            <a:avLst>
              <a:gd name="adj" fmla="val 4800"/>
            </a:avLst>
          </a:prstGeom>
          <a:solidFill>
            <a:schemeClr val="bg2"/>
          </a:solidFill>
          <a:ln/>
        </p:spPr>
      </p:sp>
      <p:sp>
        <p:nvSpPr>
          <p:cNvPr id="19" name="Text 17"/>
          <p:cNvSpPr txBox="1"/>
          <p:nvPr/>
        </p:nvSpPr>
        <p:spPr>
          <a:xfrm>
            <a:off x="9509760" y="3063240"/>
            <a:ext cx="2011680" cy="59436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trg_release_room + trg_cancel_count</a:t>
            </a:r>
            <a:endParaRPr lang="en-US" sz="1200" dirty="0"/>
          </a:p>
        </p:txBody>
      </p:sp>
      <p:sp>
        <p:nvSpPr>
          <p:cNvPr id="20" name="Text 18"/>
          <p:cNvSpPr txBox="1"/>
          <p:nvPr/>
        </p:nvSpPr>
        <p:spPr>
          <a:xfrm>
            <a:off x="9509760" y="3794760"/>
            <a:ext cx="2011680" cy="1280160"/>
          </a:xfrm>
          <a:prstGeom prst="rect">
            <a:avLst/>
          </a:prstGeom>
          <a:noFill/>
          <a:ln/>
        </p:spPr>
        <p:txBody>
          <a:bodyPr wrap="square" lIns="0" tIns="0" rIns="0" bIns="0" rtlCol="0" anchor="t"/>
          <a:lstStyle/>
          <a:p>
            <a:pPr indent="0" marL="0">
              <a:buNone/>
            </a:pPr>
            <a:r>
              <a:rPr lang="en-US" sz="1600" dirty="0">
                <a:solidFill>
                  <a:schemeClr val="tx1"/>
                </a:solidFill>
              </a:rPr>
              <a:t>Room freed and customer's cancellation count +1</a:t>
            </a:r>
            <a:endParaRPr lang="en-US" sz="1600" dirty="0"/>
          </a:p>
        </p:txBody>
      </p:sp>
      <p:sp>
        <p:nvSpPr>
          <p:cNvPr id="21" name="Text 19"/>
          <p:cNvSpPr txBox="1"/>
          <p:nvPr/>
        </p:nvSpPr>
        <p:spPr>
          <a:xfrm>
            <a:off x="8961120" y="5349240"/>
            <a:ext cx="2651760" cy="457200"/>
          </a:xfrm>
          <a:prstGeom prst="rect">
            <a:avLst/>
          </a:prstGeom>
          <a:noFill/>
          <a:ln/>
        </p:spPr>
        <p:txBody>
          <a:bodyPr wrap="square" lIns="0" tIns="0" rIns="0" bIns="0" rtlCol="0" anchor="t"/>
          <a:lstStyle/>
          <a:p>
            <a:pPr indent="0" marL="0">
              <a:buNone/>
            </a:pPr>
            <a:r>
              <a:rPr lang="en-US" sz="1200" i="1" dirty="0">
                <a:solidFill>
                  <a:schemeClr val="tx2"/>
                </a:solidFill>
              </a:rPr>
              <a:t>Cancelled is the alternative path from Booked</a:t>
            </a:r>
            <a:endParaRPr lang="en-US" sz="1200" dirty="0"/>
          </a:p>
        </p:txBody>
      </p:sp>
      <p:sp>
        <p:nvSpPr>
          <p:cNvPr id="22" name="trigger banner"/>
          <p:cNvSpPr/>
          <p:nvPr/>
        </p:nvSpPr>
        <p:spPr>
          <a:xfrm>
            <a:off x="548640" y="5532120"/>
            <a:ext cx="8138160" cy="685800"/>
          </a:xfrm>
          <a:prstGeom prst="roundRect">
            <a:avLst>
              <a:gd name="adj" fmla="val 16000"/>
            </a:avLst>
          </a:prstGeom>
          <a:solidFill>
            <a:schemeClr val="accent1"/>
          </a:solidFill>
          <a:ln/>
        </p:spPr>
      </p:sp>
      <p:sp>
        <p:nvSpPr>
          <p:cNvPr id="23" name="Text 21"/>
          <p:cNvSpPr txBox="1"/>
          <p:nvPr/>
        </p:nvSpPr>
        <p:spPr>
          <a:xfrm>
            <a:off x="822960" y="5532120"/>
            <a:ext cx="7680960" cy="685800"/>
          </a:xfrm>
          <a:prstGeom prst="rect">
            <a:avLst/>
          </a:prstGeom>
          <a:noFill/>
          <a:ln/>
        </p:spPr>
        <p:txBody>
          <a:bodyPr wrap="square" lIns="0" tIns="0" rIns="0" bIns="0" rtlCol="0" anchor="ctr"/>
          <a:lstStyle/>
          <a:p>
            <a:pPr indent="0" marL="0">
              <a:buNone/>
            </a:pPr>
            <a:r>
              <a:rPr lang="en-US" sz="1600" dirty="0">
                <a:solidFill>
                  <a:schemeClr val="bg1"/>
                </a:solidFill>
              </a:rPr>
              <a:t>Triggers run inside the database, so the rules hold on every screen.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rPr>
              <a:t>SQL queries in the project</a:t>
            </a:r>
            <a:endParaRPr lang="en-US" sz="3600" dirty="0"/>
          </a:p>
        </p:txBody>
      </p:sp>
      <p:sp>
        <p:nvSpPr>
          <p:cNvPr id="3" name="Text 1"/>
          <p:cNvSpPr txBox="1"/>
          <p:nvPr/>
        </p:nvSpPr>
        <p:spPr>
          <a:xfrm>
            <a:off x="548640" y="1463040"/>
            <a:ext cx="4754880" cy="365760"/>
          </a:xfrm>
          <a:prstGeom prst="rect">
            <a:avLst/>
          </a:prstGeom>
          <a:noFill/>
          <a:ln/>
        </p:spPr>
        <p:txBody>
          <a:bodyPr wrap="square" lIns="0" tIns="0" rIns="0" bIns="0" rtlCol="0" anchor="t"/>
          <a:lstStyle/>
          <a:p>
            <a:pPr indent="0" marL="0">
              <a:buNone/>
            </a:pPr>
            <a:r>
              <a:rPr lang="en-US" sz="2000" b="1" dirty="0">
                <a:solidFill>
                  <a:schemeClr val="tx2"/>
                </a:solidFill>
              </a:rPr>
              <a:t>6 ready queries in the SQL Query Lab</a:t>
            </a:r>
            <a:endParaRPr lang="en-US" sz="2000" dirty="0"/>
          </a:p>
        </p:txBody>
      </p:sp>
      <p:sp>
        <p:nvSpPr>
          <p:cNvPr id="4" name="query num 1"/>
          <p:cNvSpPr txBox="1"/>
          <p:nvPr/>
        </p:nvSpPr>
        <p:spPr>
          <a:xfrm>
            <a:off x="548640" y="2011680"/>
            <a:ext cx="457200" cy="457200"/>
          </a:xfrm>
          <a:prstGeom prst="ellipse">
            <a:avLst/>
          </a:prstGeom>
          <a:solidFill>
            <a:srgbClr val="0B4F5C"/>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188720" y="201168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Rooms available today</a:t>
            </a:r>
            <a:pPr indent="0" marL="0">
              <a:buNone/>
            </a:pPr>
            <a:r>
              <a:rPr lang="en-US" sz="1500" dirty="0">
                <a:solidFill>
                  <a:schemeClr val="accent4"/>
                </a:solidFill>
              </a:rPr>
              <a:t>  (subquery)</a:t>
            </a:r>
            <a:endParaRPr lang="en-US" sz="1500" dirty="0"/>
          </a:p>
        </p:txBody>
      </p:sp>
      <p:sp>
        <p:nvSpPr>
          <p:cNvPr id="6" name="query num 2"/>
          <p:cNvSpPr txBox="1"/>
          <p:nvPr/>
        </p:nvSpPr>
        <p:spPr>
          <a:xfrm>
            <a:off x="548640" y="2651760"/>
            <a:ext cx="457200" cy="457200"/>
          </a:xfrm>
          <a:prstGeom prst="ellipse">
            <a:avLst/>
          </a:prstGeom>
          <a:solidFill>
            <a:srgbClr val="2A9D8F"/>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5"/>
          <p:cNvSpPr txBox="1"/>
          <p:nvPr/>
        </p:nvSpPr>
        <p:spPr>
          <a:xfrm>
            <a:off x="1188720" y="265176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Monthly revenue</a:t>
            </a:r>
            <a:pPr indent="0" marL="0">
              <a:buNone/>
            </a:pPr>
            <a:r>
              <a:rPr lang="en-US" sz="1500" dirty="0">
                <a:solidFill>
                  <a:schemeClr val="accent4"/>
                </a:solidFill>
              </a:rPr>
              <a:t>  (GROUP BY)</a:t>
            </a:r>
            <a:endParaRPr lang="en-US" sz="1500" dirty="0"/>
          </a:p>
        </p:txBody>
      </p:sp>
      <p:sp>
        <p:nvSpPr>
          <p:cNvPr id="8" name="query num 3"/>
          <p:cNvSpPr txBox="1"/>
          <p:nvPr/>
        </p:nvSpPr>
        <p:spPr>
          <a:xfrm>
            <a:off x="548640" y="3291840"/>
            <a:ext cx="457200" cy="457200"/>
          </a:xfrm>
          <a:prstGeom prst="ellipse">
            <a:avLst/>
          </a:prstGeom>
          <a:solidFill>
            <a:srgbClr val="0B4F5C"/>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7"/>
          <p:cNvSpPr txBox="1"/>
          <p:nvPr/>
        </p:nvSpPr>
        <p:spPr>
          <a:xfrm>
            <a:off x="1188720" y="329184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Top customers</a:t>
            </a:r>
            <a:pPr indent="0" marL="0">
              <a:buNone/>
            </a:pPr>
            <a:r>
              <a:rPr lang="en-US" sz="1500" dirty="0">
                <a:solidFill>
                  <a:schemeClr val="accent4"/>
                </a:solidFill>
              </a:rPr>
              <a:t>  (JOINs)</a:t>
            </a:r>
            <a:endParaRPr lang="en-US" sz="1500" dirty="0"/>
          </a:p>
        </p:txBody>
      </p:sp>
      <p:sp>
        <p:nvSpPr>
          <p:cNvPr id="10" name="query num 4"/>
          <p:cNvSpPr txBox="1"/>
          <p:nvPr/>
        </p:nvSpPr>
        <p:spPr>
          <a:xfrm>
            <a:off x="548640" y="3931920"/>
            <a:ext cx="457200" cy="457200"/>
          </a:xfrm>
          <a:prstGeom prst="ellipse">
            <a:avLst/>
          </a:prstGeom>
          <a:solidFill>
            <a:srgbClr val="2A9D8F"/>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1" name="Text 9"/>
          <p:cNvSpPr txBox="1"/>
          <p:nvPr/>
        </p:nvSpPr>
        <p:spPr>
          <a:xfrm>
            <a:off x="1188720" y="393192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Above-average spenders</a:t>
            </a:r>
            <a:pPr indent="0" marL="0">
              <a:buNone/>
            </a:pPr>
            <a:r>
              <a:rPr lang="en-US" sz="1500" dirty="0">
                <a:solidFill>
                  <a:schemeClr val="accent4"/>
                </a:solidFill>
              </a:rPr>
              <a:t>  (nested subquery)</a:t>
            </a:r>
            <a:endParaRPr lang="en-US" sz="1500" dirty="0"/>
          </a:p>
        </p:txBody>
      </p:sp>
      <p:sp>
        <p:nvSpPr>
          <p:cNvPr id="12" name="query num 5"/>
          <p:cNvSpPr txBox="1"/>
          <p:nvPr/>
        </p:nvSpPr>
        <p:spPr>
          <a:xfrm>
            <a:off x="548640" y="4572000"/>
            <a:ext cx="457200" cy="457200"/>
          </a:xfrm>
          <a:prstGeom prst="ellipse">
            <a:avLst/>
          </a:prstGeom>
          <a:solidFill>
            <a:srgbClr val="0B4F5C"/>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Text 11"/>
          <p:cNvSpPr txBox="1"/>
          <p:nvPr/>
        </p:nvSpPr>
        <p:spPr>
          <a:xfrm>
            <a:off x="1188720" y="457200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Cancellation rate by room type</a:t>
            </a:r>
            <a:pPr indent="0" marL="0">
              <a:buNone/>
            </a:pPr>
            <a:r>
              <a:rPr lang="en-US" sz="1500" dirty="0">
                <a:solidFill>
                  <a:schemeClr val="accent4"/>
                </a:solidFill>
              </a:rPr>
              <a:t>  (JOIN + GROUP BY)</a:t>
            </a:r>
            <a:endParaRPr lang="en-US" sz="1500" dirty="0"/>
          </a:p>
        </p:txBody>
      </p:sp>
      <p:sp>
        <p:nvSpPr>
          <p:cNvPr id="14" name="query num 6"/>
          <p:cNvSpPr txBox="1"/>
          <p:nvPr/>
        </p:nvSpPr>
        <p:spPr>
          <a:xfrm>
            <a:off x="548640" y="5212080"/>
            <a:ext cx="457200" cy="457200"/>
          </a:xfrm>
          <a:prstGeom prst="ellipse">
            <a:avLst/>
          </a:prstGeom>
          <a:solidFill>
            <a:srgbClr val="2A9D8F"/>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5" name="Text 13"/>
          <p:cNvSpPr txBox="1"/>
          <p:nvPr/>
        </p:nvSpPr>
        <p:spPr>
          <a:xfrm>
            <a:off x="1188720" y="5212080"/>
            <a:ext cx="4206240" cy="457200"/>
          </a:xfrm>
          <a:prstGeom prst="rect">
            <a:avLst/>
          </a:prstGeom>
          <a:noFill/>
          <a:ln/>
        </p:spPr>
        <p:txBody>
          <a:bodyPr wrap="square" lIns="0" tIns="0" rIns="0" bIns="0" rtlCol="0" anchor="ctr"/>
          <a:lstStyle/>
          <a:p>
            <a:pPr indent="0" marL="0">
              <a:buNone/>
            </a:pPr>
            <a:r>
              <a:rPr lang="en-US" sz="1500" b="1" dirty="0">
                <a:solidFill>
                  <a:schemeClr val="tx1"/>
                </a:solidFill>
              </a:rPr>
              <a:t>Average rating per room type</a:t>
            </a:r>
            <a:pPr indent="0" marL="0">
              <a:buNone/>
            </a:pPr>
            <a:r>
              <a:rPr lang="en-US" sz="1500" dirty="0">
                <a:solidFill>
                  <a:schemeClr val="accent4"/>
                </a:solidFill>
              </a:rPr>
              <a:t>  (JOINs)</a:t>
            </a:r>
            <a:endParaRPr lang="en-US" sz="1500" dirty="0"/>
          </a:p>
        </p:txBody>
      </p:sp>
      <p:sp>
        <p:nvSpPr>
          <p:cNvPr id="16" name="code panel"/>
          <p:cNvSpPr/>
          <p:nvPr/>
        </p:nvSpPr>
        <p:spPr>
          <a:xfrm>
            <a:off x="5760720" y="1463040"/>
            <a:ext cx="5879592" cy="4663440"/>
          </a:xfrm>
          <a:prstGeom prst="roundRect">
            <a:avLst>
              <a:gd name="adj" fmla="val 2353"/>
            </a:avLst>
          </a:prstGeom>
          <a:solidFill>
            <a:schemeClr val="tx1"/>
          </a:solidFill>
          <a:ln/>
        </p:spPr>
      </p:sp>
      <p:sp>
        <p:nvSpPr>
          <p:cNvPr id="17" name="Text 15"/>
          <p:cNvSpPr txBox="1"/>
          <p:nvPr/>
        </p:nvSpPr>
        <p:spPr>
          <a:xfrm>
            <a:off x="6035040" y="1691640"/>
            <a:ext cx="5394960" cy="4206240"/>
          </a:xfrm>
          <a:prstGeom prst="rect">
            <a:avLst/>
          </a:prstGeom>
          <a:noFill/>
          <a:ln/>
        </p:spPr>
        <p:txBody>
          <a:bodyPr wrap="square" lIns="0" tIns="0" rIns="0" bIns="0" rtlCol="0" anchor="t"/>
          <a:lstStyle/>
          <a:p>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Monthly revenue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SELECT strftime('%Y-%m', pay_date) AS month,</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SUM(amount) AS revenue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FROM Payment</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GROUP BY month ORDER BY month;</a:t>
            </a:r>
            <a:endParaRPr lang="en-US" sz="1500" dirty="0"/>
          </a:p>
          <a:p>
            <a:pPr indent="0" marL="0">
              <a:spcAft>
                <a:spcPts val="400"/>
              </a:spcAft>
              <a:buNone/>
            </a:pPr>
            <a:r>
              <a:rPr lang="en-US" sz="1500" dirty="0">
                <a:solidFill>
                  <a:schemeClr val="tx1"/>
                </a:solidFill>
                <a:latin typeface="Courier New" pitchFamily="34" charset="0"/>
                <a:ea typeface="Courier New" pitchFamily="34" charset="-122"/>
                <a:cs typeface="Courier New" pitchFamily="34" charset="-120"/>
              </a:rPr>
              <a:t> </a:t>
            </a:r>
            <a:endParaRPr lang="en-US" sz="1500" dirty="0"/>
          </a:p>
          <a:p>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Rooms free for given dates</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SELECT room_no FROM Room</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WHERE type_id = ? AND room_id NOT IN (</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SELECT room_id FROM Booking</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WHERE status IN ('Booked','Checked-In')</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AND check_in &lt; :out</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AND check_out &gt; :in);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rPr>
              <a:t>Conclusion</a:t>
            </a:r>
            <a:endParaRPr lang="en-US" sz="4000" dirty="0"/>
          </a:p>
        </p:txBody>
      </p:sp>
      <p:sp>
        <p:nvSpPr>
          <p:cNvPr id="3" name="conclusion 1 circle"/>
          <p:cNvSpPr/>
          <p:nvPr/>
        </p:nvSpPr>
        <p:spPr>
          <a:xfrm>
            <a:off x="731520" y="1691640"/>
            <a:ext cx="914400" cy="914400"/>
          </a:xfrm>
          <a:prstGeom prst="ellipse">
            <a:avLst/>
          </a:prstGeom>
          <a:solidFill>
            <a:srgbClr val="2A9D8F"/>
          </a:solidFill>
          <a:ln/>
        </p:spPr>
      </p:sp>
      <p:pic>
        <p:nvPicPr>
          <p:cNvPr id="4" name="conclusion 1 icon" descr="preencoded.png">    </p:cNvPr>
          <p:cNvPicPr>
            <a:picLocks noChangeAspect="1"/>
          </p:cNvPicPr>
          <p:nvPr/>
        </p:nvPicPr>
        <p:blipFill>
          <a:blip r:embed="rId1"/>
          <a:stretch>
            <a:fillRect/>
          </a:stretch>
        </p:blipFill>
        <p:spPr>
          <a:xfrm>
            <a:off x="960120" y="1920240"/>
            <a:ext cx="457200" cy="457200"/>
          </a:xfrm>
          <a:prstGeom prst="rect">
            <a:avLst/>
          </a:prstGeom>
        </p:spPr>
      </p:pic>
      <p:sp>
        <p:nvSpPr>
          <p:cNvPr id="5" name="Text 2"/>
          <p:cNvSpPr txBox="1"/>
          <p:nvPr/>
        </p:nvSpPr>
        <p:spPr>
          <a:xfrm>
            <a:off x="1920240" y="1673352"/>
            <a:ext cx="4572000" cy="411480"/>
          </a:xfrm>
          <a:prstGeom prst="rect">
            <a:avLst/>
          </a:prstGeom>
          <a:noFill/>
          <a:ln/>
        </p:spPr>
        <p:txBody>
          <a:bodyPr wrap="square" lIns="0" tIns="0" rIns="0" bIns="0" rtlCol="0" anchor="t"/>
          <a:lstStyle/>
          <a:p>
            <a:pPr indent="0" marL="0">
              <a:buNone/>
            </a:pPr>
            <a:r>
              <a:rPr lang="en-US" sz="2200" b="1" dirty="0">
                <a:solidFill>
                  <a:schemeClr val="accent2"/>
                </a:solidFill>
              </a:rPr>
              <a:t>Design</a:t>
            </a:r>
            <a:endParaRPr lang="en-US" sz="2200" dirty="0"/>
          </a:p>
        </p:txBody>
      </p:sp>
      <p:sp>
        <p:nvSpPr>
          <p:cNvPr id="6" name="Text 3"/>
          <p:cNvSpPr txBox="1"/>
          <p:nvPr/>
        </p:nvSpPr>
        <p:spPr>
          <a:xfrm>
            <a:off x="1920240" y="2103120"/>
            <a:ext cx="9418320" cy="731520"/>
          </a:xfrm>
          <a:prstGeom prst="rect">
            <a:avLst/>
          </a:prstGeom>
          <a:noFill/>
          <a:ln/>
        </p:spPr>
        <p:txBody>
          <a:bodyPr wrap="square" lIns="0" tIns="0" rIns="0" bIns="0" rtlCol="0" anchor="t"/>
          <a:lstStyle/>
          <a:p>
            <a:pPr indent="0" marL="0">
              <a:buNone/>
            </a:pPr>
            <a:r>
              <a:rPr lang="en-US" sz="1800" dirty="0">
                <a:solidFill>
                  <a:schemeClr val="bg1"/>
                </a:solidFill>
              </a:rPr>
              <a:t>Normalized 3NF design with primary keys, foreign keys and constraints keeps hotel data correct.</a:t>
            </a:r>
            <a:endParaRPr lang="en-US" sz="1800" dirty="0"/>
          </a:p>
        </p:txBody>
      </p:sp>
      <p:sp>
        <p:nvSpPr>
          <p:cNvPr id="7" name="conclusion 2 circle"/>
          <p:cNvSpPr/>
          <p:nvPr/>
        </p:nvSpPr>
        <p:spPr>
          <a:xfrm>
            <a:off x="731520" y="3063240"/>
            <a:ext cx="914400" cy="914400"/>
          </a:xfrm>
          <a:prstGeom prst="ellipse">
            <a:avLst/>
          </a:prstGeom>
          <a:solidFill>
            <a:srgbClr val="E9A23B"/>
          </a:solidFill>
          <a:ln/>
        </p:spPr>
      </p:sp>
      <p:pic>
        <p:nvPicPr>
          <p:cNvPr id="8" name="conclusion 2 icon" descr="preencoded.png">    </p:cNvPr>
          <p:cNvPicPr>
            <a:picLocks noChangeAspect="1"/>
          </p:cNvPicPr>
          <p:nvPr/>
        </p:nvPicPr>
        <p:blipFill>
          <a:blip r:embed="rId2"/>
          <a:stretch>
            <a:fillRect/>
          </a:stretch>
        </p:blipFill>
        <p:spPr>
          <a:xfrm>
            <a:off x="960120" y="3291840"/>
            <a:ext cx="457200" cy="457200"/>
          </a:xfrm>
          <a:prstGeom prst="rect">
            <a:avLst/>
          </a:prstGeom>
        </p:spPr>
      </p:pic>
      <p:sp>
        <p:nvSpPr>
          <p:cNvPr id="9" name="Text 5"/>
          <p:cNvSpPr txBox="1"/>
          <p:nvPr/>
        </p:nvSpPr>
        <p:spPr>
          <a:xfrm>
            <a:off x="1920240" y="3044952"/>
            <a:ext cx="4572000" cy="411480"/>
          </a:xfrm>
          <a:prstGeom prst="rect">
            <a:avLst/>
          </a:prstGeom>
          <a:noFill/>
          <a:ln/>
        </p:spPr>
        <p:txBody>
          <a:bodyPr wrap="square" lIns="0" tIns="0" rIns="0" bIns="0" rtlCol="0" anchor="t"/>
          <a:lstStyle/>
          <a:p>
            <a:pPr indent="0" marL="0">
              <a:buNone/>
            </a:pPr>
            <a:r>
              <a:rPr lang="en-US" sz="2200" b="1" dirty="0">
                <a:solidFill>
                  <a:schemeClr val="accent2"/>
                </a:solidFill>
              </a:rPr>
              <a:t>Automation</a:t>
            </a:r>
            <a:endParaRPr lang="en-US" sz="2200" dirty="0"/>
          </a:p>
        </p:txBody>
      </p:sp>
      <p:sp>
        <p:nvSpPr>
          <p:cNvPr id="10" name="Text 6"/>
          <p:cNvSpPr txBox="1"/>
          <p:nvPr/>
        </p:nvSpPr>
        <p:spPr>
          <a:xfrm>
            <a:off x="1920240" y="3474720"/>
            <a:ext cx="9418320" cy="731520"/>
          </a:xfrm>
          <a:prstGeom prst="rect">
            <a:avLst/>
          </a:prstGeom>
          <a:noFill/>
          <a:ln/>
        </p:spPr>
        <p:txBody>
          <a:bodyPr wrap="square" lIns="0" tIns="0" rIns="0" bIns="0" rtlCol="0" anchor="t"/>
          <a:lstStyle/>
          <a:p>
            <a:pPr indent="0" marL="0">
              <a:buNone/>
            </a:pPr>
            <a:r>
              <a:rPr lang="en-US" sz="1800" dirty="0">
                <a:solidFill>
                  <a:schemeClr val="bg1"/>
                </a:solidFill>
              </a:rPr>
              <a:t>Triggers, views, availability check and automatic billing reduce manual work and mistakes.</a:t>
            </a:r>
            <a:endParaRPr lang="en-US" sz="1800" dirty="0"/>
          </a:p>
        </p:txBody>
      </p:sp>
      <p:sp>
        <p:nvSpPr>
          <p:cNvPr id="11" name="conclusion 3 circle"/>
          <p:cNvSpPr/>
          <p:nvPr/>
        </p:nvSpPr>
        <p:spPr>
          <a:xfrm>
            <a:off x="731520" y="4434840"/>
            <a:ext cx="914400" cy="914400"/>
          </a:xfrm>
          <a:prstGeom prst="ellipse">
            <a:avLst/>
          </a:prstGeom>
          <a:solidFill>
            <a:srgbClr val="C8553D"/>
          </a:solidFill>
          <a:ln/>
        </p:spPr>
      </p:sp>
      <p:pic>
        <p:nvPicPr>
          <p:cNvPr id="12" name="conclusion 3 icon" descr="preencoded.png">    </p:cNvPr>
          <p:cNvPicPr>
            <a:picLocks noChangeAspect="1"/>
          </p:cNvPicPr>
          <p:nvPr/>
        </p:nvPicPr>
        <p:blipFill>
          <a:blip r:embed="rId3"/>
          <a:stretch>
            <a:fillRect/>
          </a:stretch>
        </p:blipFill>
        <p:spPr>
          <a:xfrm>
            <a:off x="960120" y="4663440"/>
            <a:ext cx="457200" cy="457200"/>
          </a:xfrm>
          <a:prstGeom prst="rect">
            <a:avLst/>
          </a:prstGeom>
        </p:spPr>
      </p:pic>
      <p:sp>
        <p:nvSpPr>
          <p:cNvPr id="13" name="Text 8"/>
          <p:cNvSpPr txBox="1"/>
          <p:nvPr/>
        </p:nvSpPr>
        <p:spPr>
          <a:xfrm>
            <a:off x="1920240" y="4416552"/>
            <a:ext cx="4572000" cy="411480"/>
          </a:xfrm>
          <a:prstGeom prst="rect">
            <a:avLst/>
          </a:prstGeom>
          <a:noFill/>
          <a:ln/>
        </p:spPr>
        <p:txBody>
          <a:bodyPr wrap="square" lIns="0" tIns="0" rIns="0" bIns="0" rtlCol="0" anchor="t"/>
          <a:lstStyle/>
          <a:p>
            <a:pPr indent="0" marL="0">
              <a:buNone/>
            </a:pPr>
            <a:r>
              <a:rPr lang="en-US" sz="2200" b="1" dirty="0">
                <a:solidFill>
                  <a:schemeClr val="accent2"/>
                </a:solidFill>
              </a:rPr>
              <a:t>Result</a:t>
            </a:r>
            <a:endParaRPr lang="en-US" sz="2200" dirty="0"/>
          </a:p>
        </p:txBody>
      </p:sp>
      <p:sp>
        <p:nvSpPr>
          <p:cNvPr id="14" name="Text 9"/>
          <p:cNvSpPr txBox="1"/>
          <p:nvPr/>
        </p:nvSpPr>
        <p:spPr>
          <a:xfrm>
            <a:off x="1920240" y="4846320"/>
            <a:ext cx="9418320" cy="731520"/>
          </a:xfrm>
          <a:prstGeom prst="rect">
            <a:avLst/>
          </a:prstGeom>
          <a:noFill/>
          <a:ln/>
        </p:spPr>
        <p:txBody>
          <a:bodyPr wrap="square" lIns="0" tIns="0" rIns="0" bIns="0" rtlCol="0" anchor="t"/>
          <a:lstStyle/>
          <a:p>
            <a:pPr indent="0" marL="0">
              <a:buNone/>
            </a:pPr>
            <a:r>
              <a:rPr lang="en-US" sz="1800" dirty="0">
                <a:solidFill>
                  <a:schemeClr val="bg1"/>
                </a:solidFill>
              </a:rPr>
              <a:t>One practical, low-cost system for managing hotel and hostel room bookings.</a:t>
            </a:r>
            <a:endParaRPr lang="en-US" sz="1800" dirty="0"/>
          </a:p>
        </p:txBody>
      </p:sp>
      <p:sp>
        <p:nvSpPr>
          <p:cNvPr id="15" name="thank you banner"/>
          <p:cNvSpPr/>
          <p:nvPr/>
        </p:nvSpPr>
        <p:spPr>
          <a:xfrm>
            <a:off x="731520" y="5669280"/>
            <a:ext cx="10725912" cy="777240"/>
          </a:xfrm>
          <a:prstGeom prst="roundRect">
            <a:avLst>
              <a:gd name="adj" fmla="val 14118"/>
            </a:avLst>
          </a:prstGeom>
          <a:solidFill>
            <a:schemeClr val="accent2"/>
          </a:solidFill>
          <a:ln/>
        </p:spPr>
      </p:sp>
      <p:sp>
        <p:nvSpPr>
          <p:cNvPr id="16" name="Text 11"/>
          <p:cNvSpPr txBox="1"/>
          <p:nvPr/>
        </p:nvSpPr>
        <p:spPr>
          <a:xfrm>
            <a:off x="731520" y="5669280"/>
            <a:ext cx="10725912" cy="777240"/>
          </a:xfrm>
          <a:prstGeom prst="rect">
            <a:avLst/>
          </a:prstGeom>
          <a:noFill/>
          <a:ln/>
        </p:spPr>
        <p:txBody>
          <a:bodyPr wrap="square" lIns="0" tIns="0" rIns="0" bIns="0" rtlCol="0" anchor="ctr"/>
          <a:lstStyle/>
          <a:p>
            <a:pPr algn="ctr" indent="0" marL="0">
              <a:buNone/>
            </a:pPr>
            <a:r>
              <a:rPr lang="en-US" sz="2400" b="1" dirty="0">
                <a:solidFill>
                  <a:schemeClr val="tx1"/>
                </a:solidFill>
              </a:rPr>
              <a:t>Thank you   |   Questions?</a:t>
            </a:r>
            <a:endParaRPr lang="en-US" sz="2400" dirty="0"/>
          </a:p>
        </p:txBody>
      </p:sp>
    </p:spTree>
  </p:cSld>
  <p:clrMapOvr>
    <a:masterClrMapping/>
  </p:clrMapOvr>
</p:sld>
</file>

<file path=ppt/theme/theme1.xml><?xml version="1.0" encoding="utf-8"?>
<a:theme xmlns:a="http://schemas.openxmlformats.org/drawingml/2006/main" name="Hotel Teal">
  <a:themeElements>
    <a:clrScheme name="Hotel Teal">
      <a:dk1>
        <a:srgbClr val="10252B"/>
      </a:dk1>
      <a:lt1>
        <a:srgbClr val="FFFFFF"/>
      </a:lt1>
      <a:dk2>
        <a:srgbClr val="0B4F5C"/>
      </a:dk2>
      <a:lt2>
        <a:srgbClr val="EAF2F2"/>
      </a:lt2>
      <a:accent1>
        <a:srgbClr val="0B4F5C"/>
      </a:accent1>
      <a:accent2>
        <a:srgbClr val="E9A23B"/>
      </a:accent2>
      <a:accent3>
        <a:srgbClr val="2A9D8F"/>
      </a:accent3>
      <a:accent4>
        <a:srgbClr val="C8553D"/>
      </a:accent4>
      <a:accent5>
        <a:srgbClr val="6C8EAD"/>
      </a:accent5>
      <a:accent6>
        <a:srgbClr val="8AB17D"/>
      </a:accent6>
      <a:hlink>
        <a:srgbClr val="0B4F5C"/>
      </a:hlink>
      <a:folHlink>
        <a:srgbClr val="6C8EAD"/>
      </a:folHlink>
    </a:clrScheme>
    <a:fontScheme name="Hote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Hotel Room Booking System - PBL</dc:title>
  <dc:subject>PptxGenJS Presentation</dc:subject>
  <dc:creator>PptxGenJS</dc:creator>
  <cp:lastModifiedBy>PptxGenJS</cp:lastModifiedBy>
  <cp:revision>1</cp:revision>
  <dcterms:created xsi:type="dcterms:W3CDTF">2026-10-15T06:30:09Z</dcterms:created>
  <dcterms:modified xsi:type="dcterms:W3CDTF">2026-10-15T06:30:09Z</dcterms:modified>
</cp:coreProperties>
</file>